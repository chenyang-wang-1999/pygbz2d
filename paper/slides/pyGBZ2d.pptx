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321" r:id="rId6"/>
    <p:sldId id="261" r:id="rId7"/>
    <p:sldId id="277" r:id="rId8"/>
    <p:sldId id="265" r:id="rId9"/>
    <p:sldId id="322" r:id="rId10"/>
    <p:sldId id="32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A2930EE-BF4F-499E-A2A4-B92BC0F8647E}">
          <p14:sldIdLst>
            <p14:sldId id="256"/>
            <p14:sldId id="257"/>
            <p14:sldId id="259"/>
            <p14:sldId id="260"/>
            <p14:sldId id="321"/>
            <p14:sldId id="261"/>
            <p14:sldId id="277"/>
            <p14:sldId id="265"/>
            <p14:sldId id="322"/>
            <p14:sldId id="32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307D"/>
    <a:srgbClr val="FFFFFF"/>
    <a:srgbClr val="F6F4F7"/>
    <a:srgbClr val="93549F"/>
    <a:srgbClr val="FEFDFF"/>
    <a:srgbClr val="E1DF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34"/>
    <p:restoredTop sz="86378"/>
  </p:normalViewPr>
  <p:slideViewPr>
    <p:cSldViewPr snapToGrid="0" snapToObjects="1">
      <p:cViewPr varScale="1">
        <p:scale>
          <a:sx n="77" d="100"/>
          <a:sy n="77" d="100"/>
        </p:scale>
        <p:origin x="840" y="51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51940-DB52-3B48-AABB-9C7938529E4E}" type="datetimeFigureOut">
              <a:rPr kumimoji="1" lang="zh-CN" altLang="en-US" smtClean="0"/>
              <a:t>2026/9/6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18717E-F74C-4246-A795-6577BEDC83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 userDrawn="1"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22" name="矩形 21"/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半闭框 17"/>
            <p:cNvSpPr/>
            <p:nvPr userDrawn="1"/>
          </p:nvSpPr>
          <p:spPr>
            <a:xfrm>
              <a:off x="599225" y="1921565"/>
              <a:ext cx="821803" cy="867934"/>
            </a:xfrm>
            <a:prstGeom prst="halfFrame">
              <a:avLst>
                <a:gd name="adj1" fmla="val 23474"/>
                <a:gd name="adj2" fmla="val 23475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矩形 23"/>
            <p:cNvSpPr/>
            <p:nvPr userDrawn="1"/>
          </p:nvSpPr>
          <p:spPr>
            <a:xfrm>
              <a:off x="10161778" y="3614195"/>
              <a:ext cx="1430996" cy="21067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963169" y="2028084"/>
            <a:ext cx="10265664" cy="1356406"/>
          </a:xfrm>
          <a:prstGeom prst="rect">
            <a:avLst/>
          </a:prstGeom>
          <a:effectLst/>
        </p:spPr>
        <p:txBody>
          <a:bodyPr anchor="b">
            <a:normAutofit/>
          </a:bodyPr>
          <a:lstStyle>
            <a:lvl1pPr algn="l">
              <a:defRPr lang="en-US" altLang="en-US" sz="3600" b="0" kern="1200" cap="none" baseline="0" dirty="0">
                <a:solidFill>
                  <a:srgbClr val="5C307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BC2D888-9505-ACB8-D1D4-D634F140A05E}"/>
              </a:ext>
            </a:extLst>
          </p:cNvPr>
          <p:cNvPicPr/>
          <p:nvPr userDrawn="1"/>
        </p:nvPicPr>
        <p:blipFill rotWithShape="1"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18876" y="6054012"/>
            <a:ext cx="4191931" cy="475343"/>
          </a:xfrm>
          <a:prstGeom prst="rect">
            <a:avLst/>
          </a:prstGeom>
        </p:spPr>
      </p:pic>
      <p:pic>
        <p:nvPicPr>
          <p:cNvPr id="2" name="图片 1" descr="图片包含 图示&#10;&#10;AI 生成的内容可能不正确。">
            <a:extLst>
              <a:ext uri="{FF2B5EF4-FFF2-40B4-BE49-F238E27FC236}">
                <a16:creationId xmlns:a16="http://schemas.microsoft.com/office/drawing/2014/main" id="{91B0E912-AAE0-BB4E-6570-86C4AF57244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753815" y="389487"/>
            <a:ext cx="3940098" cy="9499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377" y="1152939"/>
            <a:ext cx="10521387" cy="4843669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buFont typeface="Wingdings" panose="05000000000000000000" pitchFamily="2" charset="2"/>
              <a:buChar char="u"/>
              <a:defRPr sz="2000" baseline="0">
                <a:solidFill>
                  <a:schemeClr val="tx1"/>
                </a:solidFill>
              </a:defRPr>
            </a:lvl1pPr>
            <a:lvl2pPr>
              <a:spcBef>
                <a:spcPts val="600"/>
              </a:spcBef>
              <a:defRPr sz="2000" baseline="0">
                <a:solidFill>
                  <a:schemeClr val="tx1"/>
                </a:solidFill>
              </a:defRPr>
            </a:lvl2pPr>
            <a:lvl3pPr>
              <a:spcBef>
                <a:spcPts val="600"/>
              </a:spcBef>
              <a:defRPr sz="2000" baseline="0">
                <a:solidFill>
                  <a:schemeClr val="tx1"/>
                </a:solidFill>
              </a:defRPr>
            </a:lvl3pPr>
            <a:lvl4pPr>
              <a:spcBef>
                <a:spcPts val="600"/>
              </a:spcBef>
              <a:defRPr sz="2000" baseline="0">
                <a:solidFill>
                  <a:schemeClr val="tx1"/>
                </a:solidFill>
              </a:defRPr>
            </a:lvl4pPr>
            <a:lvl5pPr>
              <a:spcBef>
                <a:spcPts val="600"/>
              </a:spcBef>
              <a:defRPr sz="200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1895269" y="75159"/>
            <a:ext cx="8335408" cy="682802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D50B745B-2414-DFB6-628D-5560347915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83688" y="79396"/>
            <a:ext cx="1696278" cy="665313"/>
          </a:xfrm>
          <a:prstGeom prst="rect">
            <a:avLst/>
          </a:prstGeom>
        </p:spPr>
      </p:pic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DEDECBE8-A898-B18F-47AE-6233FF120D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9491" y="82061"/>
            <a:ext cx="2817536" cy="682802"/>
          </a:xfrm>
          <a:prstGeom prst="rect">
            <a:avLst/>
          </a:prstGeom>
        </p:spPr>
        <p:txBody>
          <a:bodyPr anchor="ctr"/>
          <a:lstStyle>
            <a:lvl1pPr>
              <a:buNone/>
              <a:defRPr sz="2800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1895269" y="75159"/>
            <a:ext cx="8335408" cy="682802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D50B745B-2414-DFB6-628D-5560347915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83688" y="79396"/>
            <a:ext cx="1696278" cy="665313"/>
          </a:xfrm>
          <a:prstGeom prst="rect">
            <a:avLst/>
          </a:prstGeom>
        </p:spPr>
      </p:pic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DEDECBE8-A898-B18F-47AE-6233FF120D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9491" y="82061"/>
            <a:ext cx="2817536" cy="682802"/>
          </a:xfrm>
          <a:prstGeom prst="rect">
            <a:avLst/>
          </a:prstGeom>
        </p:spPr>
        <p:txBody>
          <a:bodyPr anchor="ctr"/>
          <a:lstStyle>
            <a:lvl1pPr>
              <a:buNone/>
              <a:defRPr sz="2800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</a:t>
            </a:r>
          </a:p>
        </p:txBody>
      </p:sp>
    </p:spTree>
    <p:extLst>
      <p:ext uri="{BB962C8B-B14F-4D97-AF65-F5344CB8AC3E}">
        <p14:creationId xmlns:p14="http://schemas.microsoft.com/office/powerpoint/2010/main" val="2007769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8"/>
          <p:cNvSpPr/>
          <p:nvPr userDrawn="1"/>
        </p:nvSpPr>
        <p:spPr>
          <a:xfrm rot="5400000">
            <a:off x="-2692137" y="3263038"/>
            <a:ext cx="6858000" cy="33192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图片 8"/>
          <p:cNvPicPr/>
          <p:nvPr userDrawn="1"/>
        </p:nvPicPr>
        <p:blipFill rotWithShape="1"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18876" y="6054012"/>
            <a:ext cx="4191931" cy="475343"/>
          </a:xfrm>
          <a:prstGeom prst="rect">
            <a:avLst/>
          </a:prstGeom>
        </p:spPr>
      </p:pic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029260D-27D8-7452-7EB2-CBB2D865D7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47386" y="2094395"/>
            <a:ext cx="7905750" cy="2432050"/>
          </a:xfrm>
          <a:prstGeom prst="rect">
            <a:avLst/>
          </a:prstGeom>
        </p:spPr>
        <p:txBody>
          <a:bodyPr anchor="ctr"/>
          <a:lstStyle>
            <a:lvl1pPr>
              <a:spcBef>
                <a:spcPts val="1200"/>
              </a:spcBef>
              <a:spcAft>
                <a:spcPts val="1200"/>
              </a:spcAft>
              <a:defRPr sz="2800" baseline="0">
                <a:solidFill>
                  <a:schemeClr val="tx1"/>
                </a:solidFill>
              </a:defRPr>
            </a:lvl1pPr>
            <a:lvl2pPr>
              <a:spcBef>
                <a:spcPts val="600"/>
              </a:spcBef>
              <a:buFontTx/>
              <a:buNone/>
              <a:defRPr sz="2400">
                <a:solidFill>
                  <a:schemeClr val="tx1"/>
                </a:solidFill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副标题</a:t>
            </a:r>
            <a:endParaRPr lang="en-US" altLang="zh-CN" dirty="0"/>
          </a:p>
          <a:p>
            <a:pPr lvl="0"/>
            <a:r>
              <a:rPr lang="zh-CN" altLang="en-US" dirty="0"/>
              <a:t>正标题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7977542-0BF0-8D82-3908-9C1F866A5FF8}"/>
              </a:ext>
            </a:extLst>
          </p:cNvPr>
          <p:cNvSpPr txBox="1"/>
          <p:nvPr userDrawn="1"/>
        </p:nvSpPr>
        <p:spPr>
          <a:xfrm>
            <a:off x="1447386" y="644427"/>
            <a:ext cx="2441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</a:rPr>
              <a:t>CONTENTS</a:t>
            </a:r>
            <a:endParaRPr lang="zh-CN" altLang="en-US" sz="3200" dirty="0">
              <a:solidFill>
                <a:schemeClr val="accent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C2C4287-069E-C992-E094-80218A4C6D36}"/>
              </a:ext>
            </a:extLst>
          </p:cNvPr>
          <p:cNvSpPr txBox="1"/>
          <p:nvPr userDrawn="1"/>
        </p:nvSpPr>
        <p:spPr>
          <a:xfrm>
            <a:off x="1447386" y="644426"/>
            <a:ext cx="2441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</a:rPr>
              <a:t>CONTENTS</a:t>
            </a:r>
            <a:endParaRPr lang="zh-CN" altLang="en-US" sz="3200" dirty="0">
              <a:solidFill>
                <a:schemeClr val="accent1"/>
              </a:solidFill>
            </a:endParaRPr>
          </a:p>
        </p:txBody>
      </p:sp>
      <p:pic>
        <p:nvPicPr>
          <p:cNvPr id="2" name="图片 1" descr="图片包含 图示&#10;&#10;AI 生成的内容可能不正确。">
            <a:extLst>
              <a:ext uri="{FF2B5EF4-FFF2-40B4-BE49-F238E27FC236}">
                <a16:creationId xmlns:a16="http://schemas.microsoft.com/office/drawing/2014/main" id="{B0E848DE-61B3-E203-3192-385DE0CB2D8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753815" y="389487"/>
            <a:ext cx="3940098" cy="9499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377" y="1152939"/>
            <a:ext cx="10521387" cy="4843669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buFont typeface="Wingdings" panose="05000000000000000000" pitchFamily="2" charset="2"/>
              <a:buChar char="u"/>
              <a:defRPr sz="2000" baseline="0"/>
            </a:lvl1pPr>
            <a:lvl2pPr>
              <a:spcBef>
                <a:spcPts val="600"/>
              </a:spcBef>
              <a:defRPr sz="2000" baseline="0"/>
            </a:lvl2pPr>
            <a:lvl3pPr>
              <a:spcBef>
                <a:spcPts val="600"/>
              </a:spcBef>
              <a:defRPr sz="2000" baseline="0"/>
            </a:lvl3pPr>
            <a:lvl4pPr>
              <a:spcBef>
                <a:spcPts val="600"/>
              </a:spcBef>
              <a:defRPr sz="2000" baseline="0"/>
            </a:lvl4pPr>
            <a:lvl5pPr>
              <a:spcBef>
                <a:spcPts val="600"/>
              </a:spcBef>
              <a:defRPr sz="2000" baseline="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1895269" y="75159"/>
            <a:ext cx="8335408" cy="682802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D50B745B-2414-DFB6-628D-5560347915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83688" y="79396"/>
            <a:ext cx="1696278" cy="665313"/>
          </a:xfrm>
          <a:prstGeom prst="rect">
            <a:avLst/>
          </a:prstGeom>
        </p:spPr>
      </p:pic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DEDECBE8-A898-B18F-47AE-6233FF120D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9491" y="82061"/>
            <a:ext cx="2817536" cy="682802"/>
          </a:xfrm>
          <a:prstGeom prst="rect">
            <a:avLst/>
          </a:prstGeom>
        </p:spPr>
        <p:txBody>
          <a:bodyPr anchor="ctr"/>
          <a:lstStyle>
            <a:lvl1pPr>
              <a:buNone/>
              <a:defRPr sz="2800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</a:t>
            </a:r>
          </a:p>
        </p:txBody>
      </p:sp>
    </p:spTree>
    <p:extLst>
      <p:ext uri="{BB962C8B-B14F-4D97-AF65-F5344CB8AC3E}">
        <p14:creationId xmlns:p14="http://schemas.microsoft.com/office/powerpoint/2010/main" val="907178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E4D8F97-D1C6-7436-A0E9-856B1D31EBB6}"/>
              </a:ext>
            </a:extLst>
          </p:cNvPr>
          <p:cNvSpPr/>
          <p:nvPr userDrawn="1"/>
        </p:nvSpPr>
        <p:spPr>
          <a:xfrm>
            <a:off x="0" y="0"/>
            <a:ext cx="12192000" cy="8331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1776001" y="75159"/>
            <a:ext cx="8639998" cy="682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F600F42-AE3B-8209-0A5C-688739B9D956}"/>
              </a:ext>
            </a:extLst>
          </p:cNvPr>
          <p:cNvSpPr/>
          <p:nvPr userDrawn="1"/>
        </p:nvSpPr>
        <p:spPr>
          <a:xfrm>
            <a:off x="0" y="6427304"/>
            <a:ext cx="12192000" cy="4306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92F8DDF-9C20-CBE3-8E9F-AA5BA937AA3D}"/>
              </a:ext>
            </a:extLst>
          </p:cNvPr>
          <p:cNvSpPr txBox="1"/>
          <p:nvPr userDrawn="1"/>
        </p:nvSpPr>
        <p:spPr>
          <a:xfrm>
            <a:off x="11655288" y="644718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B7D0A65-90BD-40A1-BC03-5CC09FFB787C}" type="slidenum">
              <a:rPr lang="zh-CN" altLang="en-US" smtClean="0">
                <a:solidFill>
                  <a:schemeClr val="bg1"/>
                </a:solidFill>
              </a:rPr>
              <a:t>‹#›</a:t>
            </a:fld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53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2800" b="0" kern="1200" cap="all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60" indent="-23368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105" indent="-23368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64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0.wmf"/><Relationship Id="rId3" Type="http://schemas.openxmlformats.org/officeDocument/2006/relationships/oleObject" Target="../embeddings/oleObject1.bin"/><Relationship Id="rId7" Type="http://schemas.openxmlformats.org/officeDocument/2006/relationships/image" Target="../media/image6.png"/><Relationship Id="rId12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Relationship Id="rId6" Type="http://schemas.openxmlformats.org/officeDocument/2006/relationships/image" Target="../media/image5.wmf"/><Relationship Id="rId11" Type="http://schemas.openxmlformats.org/officeDocument/2006/relationships/image" Target="../media/image9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8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2.png"/><Relationship Id="rId9" Type="http://schemas.openxmlformats.org/officeDocument/2006/relationships/image" Target="../media/image15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0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13" Type="http://schemas.openxmlformats.org/officeDocument/2006/relationships/image" Target="../media/image31.emf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12" Type="http://schemas.openxmlformats.org/officeDocument/2006/relationships/image" Target="../media/image30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png"/><Relationship Id="rId11" Type="http://schemas.openxmlformats.org/officeDocument/2006/relationships/image" Target="../media/image29.emf"/><Relationship Id="rId5" Type="http://schemas.openxmlformats.org/officeDocument/2006/relationships/image" Target="../media/image24.png"/><Relationship Id="rId10" Type="http://schemas.openxmlformats.org/officeDocument/2006/relationships/image" Target="../media/image28.emf"/><Relationship Id="rId4" Type="http://schemas.openxmlformats.org/officeDocument/2006/relationships/image" Target="../media/image23.png"/><Relationship Id="rId9" Type="http://schemas.openxmlformats.org/officeDocument/2006/relationships/image" Target="../media/image27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6.wmf"/><Relationship Id="rId7" Type="http://schemas.openxmlformats.org/officeDocument/2006/relationships/image" Target="../media/image38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5" Type="http://schemas.openxmlformats.org/officeDocument/2006/relationships/oleObject" Target="../embeddings/oleObject8.bin"/><Relationship Id="rId4" Type="http://schemas.openxmlformats.org/officeDocument/2006/relationships/image" Target="../media/image37.png"/><Relationship Id="rId9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439545-FC61-7D01-D5DB-FE278E114E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Numerical calculations of two-dimensional generalized Brillouin zone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459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903EF58-F572-5DD5-014F-88FDD26075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47385" y="2511839"/>
            <a:ext cx="10068754" cy="2432050"/>
          </a:xfrm>
        </p:spPr>
        <p:txBody>
          <a:bodyPr/>
          <a:lstStyle/>
          <a:p>
            <a:r>
              <a:rPr lang="en-US" altLang="zh-CN" dirty="0"/>
              <a:t>Non-Bloch band theory and generalized Brillouin zone (GBZ)</a:t>
            </a:r>
          </a:p>
          <a:p>
            <a:r>
              <a:rPr lang="en-US" altLang="zh-CN" dirty="0"/>
              <a:t>Amoebic GBZ and strip GBZ</a:t>
            </a:r>
          </a:p>
          <a:p>
            <a:r>
              <a:rPr lang="en-US" altLang="zh-CN" dirty="0"/>
              <a:t>Reducing GBZ computation to root solving</a:t>
            </a:r>
          </a:p>
          <a:p>
            <a:r>
              <a:rPr lang="en-US" altLang="zh-CN" dirty="0"/>
              <a:t>Project structure</a:t>
            </a:r>
          </a:p>
        </p:txBody>
      </p:sp>
    </p:spTree>
    <p:extLst>
      <p:ext uri="{BB962C8B-B14F-4D97-AF65-F5344CB8AC3E}">
        <p14:creationId xmlns:p14="http://schemas.microsoft.com/office/powerpoint/2010/main" val="2362595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C852E33-34FB-9CAD-DB3A-792AFFB46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Non-Hermitian physics</a:t>
            </a:r>
            <a:endParaRPr lang="zh-CN" altLang="en-US" dirty="0"/>
          </a:p>
        </p:txBody>
      </p:sp>
      <p:sp>
        <p:nvSpPr>
          <p:cNvPr id="23" name="文本占位符 22">
            <a:extLst>
              <a:ext uri="{FF2B5EF4-FFF2-40B4-BE49-F238E27FC236}">
                <a16:creationId xmlns:a16="http://schemas.microsoft.com/office/drawing/2014/main" id="{2D61903C-94F0-BCA5-9ECC-032CA80342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Part 01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B21D89-44A4-33F9-AB67-6F3745E4F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>
                <a:solidFill>
                  <a:srgbClr val="0070C0"/>
                </a:solidFill>
              </a:rPr>
              <a:t>Non-Hermitian physics: </a:t>
            </a:r>
            <a:r>
              <a:rPr lang="en-US" altLang="zh-CN" sz="2400" dirty="0">
                <a:solidFill>
                  <a:schemeClr val="tx1"/>
                </a:solidFill>
              </a:rPr>
              <a:t>Effective dynamics </a:t>
            </a:r>
            <a:r>
              <a:rPr lang="en-US" altLang="zh-CN" sz="2400" dirty="0"/>
              <a:t>for some open systems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CCBA08D-AF9B-7A0B-D2AE-658A64EB7F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09678" y="1775789"/>
          <a:ext cx="2643187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3" imgW="2643120" imgH="835560" progId="Equation.AxMath">
                  <p:embed/>
                </p:oleObj>
              </mc:Choice>
              <mc:Fallback>
                <p:oleObj name="AxMath" r:id="rId3" imgW="2643120" imgH="835560" progId="Equation.AxMath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6CCBA08D-AF9B-7A0B-D2AE-658A64EB7F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09678" y="1775789"/>
                        <a:ext cx="2643187" cy="835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B51BA98-A88C-3BAE-76F0-2D4DE852C7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39040" y="1963114"/>
          <a:ext cx="13811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5" imgW="1381680" imgH="459720" progId="Equation.AxMath">
                  <p:embed/>
                </p:oleObj>
              </mc:Choice>
              <mc:Fallback>
                <p:oleObj name="AxMath" r:id="rId5" imgW="1381680" imgH="459720" progId="Equation.AxMath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BB51BA98-A88C-3BAE-76F0-2D4DE852C7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39040" y="1963114"/>
                        <a:ext cx="1381125" cy="460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图片 11">
            <a:extLst>
              <a:ext uri="{FF2B5EF4-FFF2-40B4-BE49-F238E27FC236}">
                <a16:creationId xmlns:a16="http://schemas.microsoft.com/office/drawing/2014/main" id="{2D56A1D8-F6FD-7143-1CA1-D13AEFA39C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4464" y="3249335"/>
            <a:ext cx="3157873" cy="1672683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E3B56925-E89F-62AB-B026-5AB5AC9EA9F6}"/>
              </a:ext>
            </a:extLst>
          </p:cNvPr>
          <p:cNvSpPr txBox="1"/>
          <p:nvPr/>
        </p:nvSpPr>
        <p:spPr>
          <a:xfrm>
            <a:off x="8653616" y="2852941"/>
            <a:ext cx="30380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accent1"/>
                </a:solidFill>
              </a:rPr>
              <a:t>Classical wave dynamics</a:t>
            </a:r>
            <a:endParaRPr lang="zh-CN" altLang="en-US" sz="2000" dirty="0">
              <a:solidFill>
                <a:schemeClr val="accent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1A1C80C-1F2F-3C6C-A693-237C38C8FE59}"/>
              </a:ext>
            </a:extLst>
          </p:cNvPr>
          <p:cNvSpPr txBox="1"/>
          <p:nvPr/>
        </p:nvSpPr>
        <p:spPr>
          <a:xfrm>
            <a:off x="8929274" y="4877450"/>
            <a:ext cx="30583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effectLst/>
              </a:rPr>
              <a:t>Kremer, M. </a:t>
            </a:r>
            <a:r>
              <a:rPr lang="en-US" altLang="zh-CN" sz="1600" i="1" dirty="0">
                <a:effectLst/>
              </a:rPr>
              <a:t>et al.</a:t>
            </a:r>
            <a:r>
              <a:rPr lang="en-US" altLang="zh-CN" sz="1600" dirty="0">
                <a:effectLst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600" i="1" dirty="0">
                <a:effectLst/>
              </a:rPr>
              <a:t>Nat Commun</a:t>
            </a:r>
            <a:r>
              <a:rPr lang="en-US" altLang="zh-CN" sz="1600" dirty="0">
                <a:effectLst/>
              </a:rPr>
              <a:t> </a:t>
            </a:r>
            <a:r>
              <a:rPr lang="en-US" altLang="zh-CN" sz="1600" b="1" dirty="0">
                <a:effectLst/>
              </a:rPr>
              <a:t>10</a:t>
            </a:r>
            <a:r>
              <a:rPr lang="en-US" altLang="zh-CN" sz="1600" dirty="0">
                <a:effectLst/>
              </a:rPr>
              <a:t>, 435 (2019).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B5FFBCB-C899-CA15-CB2C-08DDE2521081}"/>
              </a:ext>
            </a:extLst>
          </p:cNvPr>
          <p:cNvSpPr txBox="1"/>
          <p:nvPr/>
        </p:nvSpPr>
        <p:spPr>
          <a:xfrm>
            <a:off x="705485" y="4877450"/>
            <a:ext cx="38677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effectLst/>
              </a:rPr>
              <a:t>F. Song, S. Yao, and Z. Wang, </a:t>
            </a:r>
          </a:p>
          <a:p>
            <a:r>
              <a:rPr lang="en-US" altLang="zh-CN" sz="1600" dirty="0">
                <a:effectLst/>
              </a:rPr>
              <a:t>Phys. Rev. Lett. </a:t>
            </a:r>
            <a:r>
              <a:rPr lang="en-US" altLang="zh-CN" sz="1600" b="1" dirty="0">
                <a:effectLst/>
              </a:rPr>
              <a:t>123</a:t>
            </a:r>
            <a:r>
              <a:rPr lang="en-US" altLang="zh-CN" sz="1600" dirty="0">
                <a:effectLst/>
              </a:rPr>
              <a:t>, 170401 (2019).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DBE403D-F693-55B2-0132-460F188482E0}"/>
              </a:ext>
            </a:extLst>
          </p:cNvPr>
          <p:cNvSpPr txBox="1"/>
          <p:nvPr/>
        </p:nvSpPr>
        <p:spPr>
          <a:xfrm>
            <a:off x="862105" y="2861564"/>
            <a:ext cx="29803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>
                <a:solidFill>
                  <a:schemeClr val="accent1"/>
                </a:solidFill>
              </a:rPr>
              <a:t>Liouvillian</a:t>
            </a:r>
            <a:r>
              <a:rPr lang="en-US" altLang="zh-CN" sz="2000" dirty="0">
                <a:solidFill>
                  <a:schemeClr val="accent1"/>
                </a:solidFill>
              </a:rPr>
              <a:t> </a:t>
            </a:r>
            <a:r>
              <a:rPr lang="en-US" altLang="zh-CN" sz="2000" dirty="0" err="1">
                <a:solidFill>
                  <a:schemeClr val="accent1"/>
                </a:solidFill>
              </a:rPr>
              <a:t>superoperator</a:t>
            </a:r>
            <a:endParaRPr lang="zh-CN" altLang="en-US" sz="2000" dirty="0">
              <a:solidFill>
                <a:schemeClr val="accent1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6E3ACD3-3AD7-FB41-F7B0-30A37226C46E}"/>
              </a:ext>
            </a:extLst>
          </p:cNvPr>
          <p:cNvSpPr txBox="1"/>
          <p:nvPr/>
        </p:nvSpPr>
        <p:spPr>
          <a:xfrm>
            <a:off x="4398157" y="4877450"/>
            <a:ext cx="4122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effectLst/>
              </a:rPr>
              <a:t>A. McDonald, T. P.-Barnea, and A. A. Clerk, Phys. Rev. X </a:t>
            </a:r>
            <a:r>
              <a:rPr lang="en-US" altLang="zh-CN" sz="1600" b="1" dirty="0">
                <a:effectLst/>
              </a:rPr>
              <a:t>8</a:t>
            </a:r>
            <a:r>
              <a:rPr lang="en-US" altLang="zh-CN" sz="1600" dirty="0">
                <a:effectLst/>
              </a:rPr>
              <a:t>, 041031 (2018).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BD2F6D7-E138-3CBF-D540-1DC8A2312C8B}"/>
              </a:ext>
            </a:extLst>
          </p:cNvPr>
          <p:cNvSpPr txBox="1"/>
          <p:nvPr/>
        </p:nvSpPr>
        <p:spPr>
          <a:xfrm>
            <a:off x="4619164" y="2852941"/>
            <a:ext cx="3108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accent1"/>
                </a:solidFill>
              </a:rPr>
              <a:t>Bosonic </a:t>
            </a:r>
            <a:r>
              <a:rPr lang="en-US" altLang="zh-CN" sz="2000" dirty="0" err="1">
                <a:solidFill>
                  <a:schemeClr val="accent1"/>
                </a:solidFill>
              </a:rPr>
              <a:t>BdG</a:t>
            </a:r>
            <a:r>
              <a:rPr lang="en-US" altLang="zh-CN" sz="2000" dirty="0">
                <a:solidFill>
                  <a:schemeClr val="accent1"/>
                </a:solidFill>
              </a:rPr>
              <a:t> Hamiltonian</a:t>
            </a:r>
            <a:endParaRPr lang="zh-CN" altLang="en-US" sz="2000" dirty="0">
              <a:solidFill>
                <a:schemeClr val="accent1"/>
              </a:solidFill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05F6FF06-EBB6-14FB-6614-99195B854E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4776" y="3357713"/>
            <a:ext cx="2523779" cy="678031"/>
          </a:xfrm>
          <a:prstGeom prst="rect">
            <a:avLst/>
          </a:prstGeom>
        </p:spPr>
      </p:pic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CB54FB06-71D5-12D4-851B-668D43D348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39231" y="4140406"/>
          <a:ext cx="191293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9" imgW="1912320" imgH="381240" progId="Equation.AxMath">
                  <p:embed/>
                </p:oleObj>
              </mc:Choice>
              <mc:Fallback>
                <p:oleObj name="AxMath" r:id="rId9" imgW="1912320" imgH="381240" progId="Equation.AxMath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CB54FB06-71D5-12D4-851B-668D43D348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39231" y="4140406"/>
                        <a:ext cx="1912937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" name="图片 30">
            <a:extLst>
              <a:ext uri="{FF2B5EF4-FFF2-40B4-BE49-F238E27FC236}">
                <a16:creationId xmlns:a16="http://schemas.microsoft.com/office/drawing/2014/main" id="{70463353-E995-37CC-4B42-B294DED7C19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7135" y="3328147"/>
            <a:ext cx="3322118" cy="658328"/>
          </a:xfrm>
          <a:prstGeom prst="rect">
            <a:avLst/>
          </a:prstGeom>
        </p:spPr>
      </p:pic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05D8986A-B3A9-E27C-AD8E-9645B5CEA9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1921" y="4121385"/>
          <a:ext cx="84296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2" imgW="842400" imgH="470160" progId="Equation.AxMath">
                  <p:embed/>
                </p:oleObj>
              </mc:Choice>
              <mc:Fallback>
                <p:oleObj name="AxMath" r:id="rId12" imgW="842400" imgH="470160" progId="Equation.AxMath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05D8986A-B3A9-E27C-AD8E-9645B5CEA9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901921" y="4121385"/>
                        <a:ext cx="842963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文本框 32">
            <a:extLst>
              <a:ext uri="{FF2B5EF4-FFF2-40B4-BE49-F238E27FC236}">
                <a16:creationId xmlns:a16="http://schemas.microsoft.com/office/drawing/2014/main" id="{20FCB95A-DCD8-28DA-CC4D-76AE99D1FB02}"/>
              </a:ext>
            </a:extLst>
          </p:cNvPr>
          <p:cNvSpPr txBox="1"/>
          <p:nvPr/>
        </p:nvSpPr>
        <p:spPr>
          <a:xfrm>
            <a:off x="2639345" y="5764404"/>
            <a:ext cx="7649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effectLst/>
              </a:rPr>
              <a:t>Review: Y. Ashida, Z. Gong, and M. Ueda, Adv. Phys. </a:t>
            </a:r>
            <a:r>
              <a:rPr lang="en-US" altLang="zh-CN" b="1" dirty="0">
                <a:effectLst/>
              </a:rPr>
              <a:t>69</a:t>
            </a:r>
            <a:r>
              <a:rPr lang="en-US" altLang="zh-CN" dirty="0">
                <a:effectLst/>
              </a:rPr>
              <a:t>, 249 (2020).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5642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  <p:bldP spid="25" grpId="0"/>
      <p:bldP spid="26" grpId="0"/>
      <p:bldP spid="27" grpId="0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065B4-B994-0698-7967-31FB163D4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7CDAFF2-8640-99A2-EA39-E596111E2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Non-Hermitian periodic lattices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1C33441-D782-7864-D47B-2E8D57A33DCB}"/>
              </a:ext>
            </a:extLst>
          </p:cNvPr>
          <p:cNvSpPr txBox="1"/>
          <p:nvPr/>
        </p:nvSpPr>
        <p:spPr>
          <a:xfrm>
            <a:off x="7435071" y="2400763"/>
            <a:ext cx="21259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accent1"/>
                </a:solidFill>
              </a:rPr>
              <a:t>New applications</a:t>
            </a:r>
            <a:endParaRPr lang="zh-CN" altLang="en-US" sz="2000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EB8AB7C-83EC-7B74-0DD1-73A59D3271F7}"/>
                  </a:ext>
                </a:extLst>
              </p:cNvPr>
              <p:cNvSpPr txBox="1"/>
              <p:nvPr/>
            </p:nvSpPr>
            <p:spPr>
              <a:xfrm>
                <a:off x="835201" y="2807601"/>
                <a:ext cx="5507710" cy="20005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rgbClr val="002060"/>
                    </a:solidFill>
                  </a:rPr>
                  <a:t>Novel band topology</a:t>
                </a:r>
                <a:br>
                  <a:rPr lang="en-US" altLang="zh-CN" dirty="0">
                    <a:solidFill>
                      <a:srgbClr val="002060"/>
                    </a:solidFill>
                  </a:rPr>
                </a:br>
                <a:r>
                  <a:rPr lang="en-US" altLang="zh-CN" dirty="0">
                    <a:solidFill>
                      <a:srgbClr val="002060"/>
                    </a:solidFill>
                  </a:rPr>
                  <a:t>Hermitian</a:t>
                </a:r>
                <a:r>
                  <a:rPr lang="zh-CN" altLang="en-US" dirty="0">
                    <a:solidFill>
                      <a:srgbClr val="002060"/>
                    </a:solidFill>
                  </a:rPr>
                  <a:t>：</a:t>
                </a:r>
                <a:r>
                  <a:rPr lang="en-US" altLang="zh-CN" dirty="0">
                    <a:solidFill>
                      <a:srgbClr val="002060"/>
                    </a:solidFill>
                  </a:rPr>
                  <a:t>AZ 10-fold</a:t>
                </a:r>
                <a:r>
                  <a:rPr lang="zh-CN" alt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altLang="zh-CN" dirty="0">
                    <a:solidFill>
                      <a:srgbClr val="002060"/>
                    </a:solidFill>
                  </a:rPr>
                  <a:t> Non-Hermitian</a:t>
                </a:r>
                <a:r>
                  <a:rPr lang="zh-CN" altLang="en-US" dirty="0">
                    <a:solidFill>
                      <a:srgbClr val="002060"/>
                    </a:solidFill>
                  </a:rPr>
                  <a:t>：</a:t>
                </a:r>
                <a:r>
                  <a:rPr lang="en-US" altLang="zh-CN" dirty="0">
                    <a:solidFill>
                      <a:srgbClr val="002060"/>
                    </a:solidFill>
                  </a:rPr>
                  <a:t>38-fold</a:t>
                </a:r>
                <a:br>
                  <a:rPr lang="en-US" altLang="zh-CN" sz="2000" dirty="0">
                    <a:solidFill>
                      <a:srgbClr val="002060"/>
                    </a:solidFill>
                  </a:rPr>
                </a:br>
                <a:r>
                  <a:rPr lang="en-US" altLang="zh-CN" sz="1600" dirty="0"/>
                  <a:t>Kawabata, K., </a:t>
                </a:r>
                <a:r>
                  <a:rPr lang="en-US" altLang="zh-CN" sz="1600" dirty="0" err="1"/>
                  <a:t>Shiozaki</a:t>
                </a:r>
                <a:r>
                  <a:rPr lang="en-US" altLang="zh-CN" sz="1600" dirty="0"/>
                  <a:t>, K., Ueda, M. &amp; Sato, </a:t>
                </a:r>
                <a:br>
                  <a:rPr lang="en-US" altLang="zh-CN" sz="1600" dirty="0"/>
                </a:br>
                <a:r>
                  <a:rPr lang="en-US" altLang="zh-CN" sz="1600" dirty="0"/>
                  <a:t>Phys. Rev. X 9, 041015 (2019).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dirty="0">
                  <a:solidFill>
                    <a:srgbClr val="00206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rgbClr val="002060"/>
                    </a:solidFill>
                  </a:rPr>
                  <a:t>Non-Hermitian band braiding</a:t>
                </a:r>
                <a:br>
                  <a:rPr lang="en-US" altLang="zh-CN" sz="2000" dirty="0">
                    <a:solidFill>
                      <a:srgbClr val="002060"/>
                    </a:solidFill>
                  </a:rPr>
                </a:br>
                <a:endParaRPr lang="en-US" altLang="zh-CN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EB8AB7C-83EC-7B74-0DD1-73A59D327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201" y="2807601"/>
                <a:ext cx="5507710" cy="2000548"/>
              </a:xfrm>
              <a:prstGeom prst="rect">
                <a:avLst/>
              </a:prstGeom>
              <a:blipFill>
                <a:blip r:embed="rId3"/>
                <a:stretch>
                  <a:fillRect l="-664" t="-1829" r="-3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3DBCA68B-EF6B-14B7-919F-9FE26E723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710" y="4498653"/>
            <a:ext cx="4333461" cy="115603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1ED06BB-A566-3E87-1055-832BF0961699}"/>
              </a:ext>
            </a:extLst>
          </p:cNvPr>
          <p:cNvSpPr txBox="1"/>
          <p:nvPr/>
        </p:nvSpPr>
        <p:spPr>
          <a:xfrm>
            <a:off x="1163710" y="5696408"/>
            <a:ext cx="40293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effectLst/>
              </a:rPr>
              <a:t>Hu, H. &amp; Zhao, E.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600" i="1" dirty="0">
                <a:effectLst/>
              </a:rPr>
              <a:t>Phys. Rev. Lett.</a:t>
            </a:r>
            <a:r>
              <a:rPr lang="en-US" altLang="zh-CN" sz="1600" dirty="0">
                <a:effectLst/>
              </a:rPr>
              <a:t> </a:t>
            </a:r>
            <a:r>
              <a:rPr lang="en-US" altLang="zh-CN" sz="1600" b="1" dirty="0">
                <a:effectLst/>
              </a:rPr>
              <a:t>126</a:t>
            </a:r>
            <a:r>
              <a:rPr lang="en-US" altLang="zh-CN" sz="1600" dirty="0">
                <a:effectLst/>
              </a:rPr>
              <a:t>, 010401 (2021).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7353A4F-5686-680A-DD4E-825BF90ABFB2}"/>
              </a:ext>
            </a:extLst>
          </p:cNvPr>
          <p:cNvSpPr txBox="1"/>
          <p:nvPr/>
        </p:nvSpPr>
        <p:spPr>
          <a:xfrm>
            <a:off x="2394144" y="2398394"/>
            <a:ext cx="16257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accent1"/>
                </a:solidFill>
              </a:rPr>
              <a:t>New physics</a:t>
            </a:r>
            <a:endParaRPr lang="zh-CN" altLang="en-US" sz="2000" dirty="0">
              <a:solidFill>
                <a:schemeClr val="accent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AAFCC57-E8F6-6A38-44EB-A098C1C82F36}"/>
              </a:ext>
            </a:extLst>
          </p:cNvPr>
          <p:cNvSpPr txBox="1"/>
          <p:nvPr/>
        </p:nvSpPr>
        <p:spPr>
          <a:xfrm>
            <a:off x="6342911" y="2818697"/>
            <a:ext cx="4929496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2060"/>
                </a:solidFill>
              </a:rPr>
              <a:t>Single-mode lasing</a:t>
            </a:r>
            <a:br>
              <a:rPr lang="en-US" altLang="zh-CN" sz="2000" dirty="0">
                <a:solidFill>
                  <a:srgbClr val="002060"/>
                </a:solidFill>
              </a:rPr>
            </a:br>
            <a:r>
              <a:rPr lang="en-US" altLang="zh-CN" sz="1600" dirty="0"/>
              <a:t>Zhu, B. et al. </a:t>
            </a:r>
            <a:br>
              <a:rPr lang="en-US" altLang="zh-CN" sz="1600" dirty="0"/>
            </a:br>
            <a:r>
              <a:rPr lang="en-US" altLang="zh-CN" sz="1600" dirty="0"/>
              <a:t>Phys. Rev. Lett. 129, 013903 (2022).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2060"/>
                </a:solidFill>
              </a:rPr>
              <a:t>Non-Hermitian sensing</a:t>
            </a:r>
            <a:br>
              <a:rPr lang="en-US" altLang="zh-CN" sz="2000" dirty="0">
                <a:solidFill>
                  <a:srgbClr val="002060"/>
                </a:solidFill>
              </a:rPr>
            </a:br>
            <a:r>
              <a:rPr lang="en-US" altLang="zh-CN" sz="1600" dirty="0"/>
              <a:t>Ehrhardt, C. &amp; Larson, J. </a:t>
            </a:r>
            <a:br>
              <a:rPr lang="en-US" altLang="zh-CN" sz="1600" dirty="0"/>
            </a:br>
            <a:r>
              <a:rPr lang="en-US" altLang="zh-CN" sz="1600" dirty="0"/>
              <a:t>Phys. Rev. Res. 6, 023135 (2024).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002060"/>
              </a:solidFill>
            </a:endParaRPr>
          </a:p>
          <a:p>
            <a:r>
              <a:rPr lang="en-US" altLang="zh-CN" dirty="0">
                <a:solidFill>
                  <a:srgbClr val="002060"/>
                </a:solidFill>
              </a:rPr>
              <a:t>……</a:t>
            </a:r>
            <a:br>
              <a:rPr lang="en-US" altLang="zh-CN" sz="2000" dirty="0">
                <a:solidFill>
                  <a:srgbClr val="002060"/>
                </a:solidFill>
              </a:rPr>
            </a:br>
            <a:endParaRPr lang="en-US" altLang="zh-CN" sz="2000" dirty="0">
              <a:solidFill>
                <a:srgbClr val="002060"/>
              </a:solidFill>
            </a:endParaRPr>
          </a:p>
        </p:txBody>
      </p:sp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D3D54A9D-9BF3-AED8-EF74-3953101F26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0923" y="1135858"/>
          <a:ext cx="1920875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5" imgW="1920600" imgH="394920" progId="Equation.AxMath">
                  <p:embed/>
                </p:oleObj>
              </mc:Choice>
              <mc:Fallback>
                <p:oleObj name="AxMath" r:id="rId5" imgW="1920600" imgH="394920" progId="Equation.AxMath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D3D54A9D-9BF3-AED8-EF74-3953101F26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70923" y="1135858"/>
                        <a:ext cx="1920875" cy="395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5" name="图片 34">
            <a:extLst>
              <a:ext uri="{FF2B5EF4-FFF2-40B4-BE49-F238E27FC236}">
                <a16:creationId xmlns:a16="http://schemas.microsoft.com/office/drawing/2014/main" id="{9F928733-2F28-B72A-D4F4-568D79DF2E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5522" y="1530575"/>
            <a:ext cx="3590383" cy="548208"/>
          </a:xfrm>
          <a:prstGeom prst="rect">
            <a:avLst/>
          </a:prstGeom>
        </p:spPr>
      </p:pic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A5AD53A2-001B-8C67-4EA2-FA52D1707B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87910" y="1150145"/>
          <a:ext cx="90963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8" imgW="909000" imgH="381240" progId="Equation.AxMath">
                  <p:embed/>
                </p:oleObj>
              </mc:Choice>
              <mc:Fallback>
                <p:oleObj name="AxMath" r:id="rId8" imgW="909000" imgH="381240" progId="Equation.AxMath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A5AD53A2-001B-8C67-4EA2-FA52D1707B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487910" y="1150145"/>
                        <a:ext cx="909637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文本框 39">
            <a:extLst>
              <a:ext uri="{FF2B5EF4-FFF2-40B4-BE49-F238E27FC236}">
                <a16:creationId xmlns:a16="http://schemas.microsoft.com/office/drawing/2014/main" id="{788D8B06-EDBD-44A1-AE59-723D9E71777E}"/>
              </a:ext>
            </a:extLst>
          </p:cNvPr>
          <p:cNvSpPr txBox="1"/>
          <p:nvPr/>
        </p:nvSpPr>
        <p:spPr>
          <a:xfrm>
            <a:off x="5602134" y="1074506"/>
            <a:ext cx="364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</a:rPr>
              <a:t>+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344F13A2-7E06-022D-7BBE-8EFC60131D78}"/>
              </a:ext>
            </a:extLst>
          </p:cNvPr>
          <p:cNvGrpSpPr/>
          <p:nvPr/>
        </p:nvGrpSpPr>
        <p:grpSpPr>
          <a:xfrm>
            <a:off x="7024948" y="1992240"/>
            <a:ext cx="853787" cy="390289"/>
            <a:chOff x="7264406" y="1990407"/>
            <a:chExt cx="853787" cy="390289"/>
          </a:xfrm>
        </p:grpSpPr>
        <p:sp>
          <p:nvSpPr>
            <p:cNvPr id="43" name="图形 41">
              <a:extLst>
                <a:ext uri="{FF2B5EF4-FFF2-40B4-BE49-F238E27FC236}">
                  <a16:creationId xmlns:a16="http://schemas.microsoft.com/office/drawing/2014/main" id="{CA2C14C2-08B0-D72F-2D00-B6ABAF0FFA66}"/>
                </a:ext>
              </a:extLst>
            </p:cNvPr>
            <p:cNvSpPr/>
            <p:nvPr/>
          </p:nvSpPr>
          <p:spPr>
            <a:xfrm rot="2031806">
              <a:off x="7264406" y="1990407"/>
              <a:ext cx="820247" cy="176753"/>
            </a:xfrm>
            <a:custGeom>
              <a:avLst/>
              <a:gdLst>
                <a:gd name="csX0" fmla="*/ -1 w 820247"/>
                <a:gd name="csY0" fmla="*/ 88376 h 176753"/>
                <a:gd name="csX1" fmla="*/ 203012 w 820247"/>
                <a:gd name="csY1" fmla="*/ 88376 h 176753"/>
                <a:gd name="csX2" fmla="*/ 206729 w 820247"/>
                <a:gd name="csY2" fmla="*/ 65734 h 176753"/>
                <a:gd name="csX3" fmla="*/ 221251 w 820247"/>
                <a:gd name="csY3" fmla="*/ 17738 h 176753"/>
                <a:gd name="csX4" fmla="*/ 228115 w 820247"/>
                <a:gd name="csY4" fmla="*/ 7031 h 176753"/>
                <a:gd name="csX5" fmla="*/ 237112 w 820247"/>
                <a:gd name="csY5" fmla="*/ 625 h 176753"/>
                <a:gd name="csX6" fmla="*/ 241707 w 820247"/>
                <a:gd name="csY6" fmla="*/ -1 h 176753"/>
                <a:gd name="csX7" fmla="*/ 246204 w 820247"/>
                <a:gd name="csY7" fmla="*/ 625 h 176753"/>
                <a:gd name="csX8" fmla="*/ 255199 w 820247"/>
                <a:gd name="csY8" fmla="*/ 7034 h 176753"/>
                <a:gd name="csX9" fmla="*/ 262064 w 820247"/>
                <a:gd name="csY9" fmla="*/ 17738 h 176753"/>
                <a:gd name="csX10" fmla="*/ 276586 w 820247"/>
                <a:gd name="csY10" fmla="*/ 65734 h 176753"/>
                <a:gd name="csX11" fmla="*/ 280304 w 820247"/>
                <a:gd name="csY11" fmla="*/ 88376 h 176753"/>
                <a:gd name="csX12" fmla="*/ 284021 w 820247"/>
                <a:gd name="csY12" fmla="*/ 111018 h 176753"/>
                <a:gd name="csX13" fmla="*/ 298543 w 820247"/>
                <a:gd name="csY13" fmla="*/ 159015 h 176753"/>
                <a:gd name="csX14" fmla="*/ 305409 w 820247"/>
                <a:gd name="csY14" fmla="*/ 169717 h 176753"/>
                <a:gd name="csX15" fmla="*/ 314404 w 820247"/>
                <a:gd name="csY15" fmla="*/ 176126 h 176753"/>
                <a:gd name="csX16" fmla="*/ 318999 w 820247"/>
                <a:gd name="csY16" fmla="*/ 176752 h 176753"/>
                <a:gd name="csX17" fmla="*/ 323495 w 820247"/>
                <a:gd name="csY17" fmla="*/ 176126 h 176753"/>
                <a:gd name="csX18" fmla="*/ 332489 w 820247"/>
                <a:gd name="csY18" fmla="*/ 169717 h 176753"/>
                <a:gd name="csX19" fmla="*/ 339356 w 820247"/>
                <a:gd name="csY19" fmla="*/ 159015 h 176753"/>
                <a:gd name="csX20" fmla="*/ 353878 w 820247"/>
                <a:gd name="csY20" fmla="*/ 111018 h 176753"/>
                <a:gd name="csX21" fmla="*/ 357595 w 820247"/>
                <a:gd name="csY21" fmla="*/ 88376 h 176753"/>
                <a:gd name="csX22" fmla="*/ 361311 w 820247"/>
                <a:gd name="csY22" fmla="*/ 65734 h 176753"/>
                <a:gd name="csX23" fmla="*/ 375834 w 820247"/>
                <a:gd name="csY23" fmla="*/ 17738 h 176753"/>
                <a:gd name="csX24" fmla="*/ 382700 w 820247"/>
                <a:gd name="csY24" fmla="*/ 7036 h 176753"/>
                <a:gd name="csX25" fmla="*/ 391695 w 820247"/>
                <a:gd name="csY25" fmla="*/ 625 h 176753"/>
                <a:gd name="csX26" fmla="*/ 396291 w 820247"/>
                <a:gd name="csY26" fmla="*/ -1 h 176753"/>
                <a:gd name="csX27" fmla="*/ 400786 w 820247"/>
                <a:gd name="csY27" fmla="*/ 625 h 176753"/>
                <a:gd name="csX28" fmla="*/ 409781 w 820247"/>
                <a:gd name="csY28" fmla="*/ 7034 h 176753"/>
                <a:gd name="csX29" fmla="*/ 416647 w 820247"/>
                <a:gd name="csY29" fmla="*/ 17738 h 176753"/>
                <a:gd name="csX30" fmla="*/ 431169 w 820247"/>
                <a:gd name="csY30" fmla="*/ 65734 h 176753"/>
                <a:gd name="csX31" fmla="*/ 434885 w 820247"/>
                <a:gd name="csY31" fmla="*/ 88376 h 176753"/>
                <a:gd name="csX32" fmla="*/ 438602 w 820247"/>
                <a:gd name="csY32" fmla="*/ 111018 h 176753"/>
                <a:gd name="csX33" fmla="*/ 453125 w 820247"/>
                <a:gd name="csY33" fmla="*/ 159015 h 176753"/>
                <a:gd name="csX34" fmla="*/ 459992 w 820247"/>
                <a:gd name="csY34" fmla="*/ 169717 h 176753"/>
                <a:gd name="csX35" fmla="*/ 468985 w 820247"/>
                <a:gd name="csY35" fmla="*/ 176126 h 176753"/>
                <a:gd name="csX36" fmla="*/ 473581 w 820247"/>
                <a:gd name="csY36" fmla="*/ 176752 h 176753"/>
                <a:gd name="csX37" fmla="*/ 478077 w 820247"/>
                <a:gd name="csY37" fmla="*/ 176126 h 176753"/>
                <a:gd name="csX38" fmla="*/ 487072 w 820247"/>
                <a:gd name="csY38" fmla="*/ 169717 h 176753"/>
                <a:gd name="csX39" fmla="*/ 493938 w 820247"/>
                <a:gd name="csY39" fmla="*/ 159015 h 176753"/>
                <a:gd name="csX40" fmla="*/ 508460 w 820247"/>
                <a:gd name="csY40" fmla="*/ 111018 h 176753"/>
                <a:gd name="csX41" fmla="*/ 512177 w 820247"/>
                <a:gd name="csY41" fmla="*/ 88376 h 176753"/>
                <a:gd name="csX42" fmla="*/ 515894 w 820247"/>
                <a:gd name="csY42" fmla="*/ 65734 h 176753"/>
                <a:gd name="csX43" fmla="*/ 530416 w 820247"/>
                <a:gd name="csY43" fmla="*/ 17738 h 176753"/>
                <a:gd name="csX44" fmla="*/ 537282 w 820247"/>
                <a:gd name="csY44" fmla="*/ 7036 h 176753"/>
                <a:gd name="csX45" fmla="*/ 546276 w 820247"/>
                <a:gd name="csY45" fmla="*/ 625 h 176753"/>
                <a:gd name="csX46" fmla="*/ 550871 w 820247"/>
                <a:gd name="csY46" fmla="*/ -1 h 176753"/>
                <a:gd name="csX47" fmla="*/ 555367 w 820247"/>
                <a:gd name="csY47" fmla="*/ 625 h 176753"/>
                <a:gd name="csX48" fmla="*/ 564361 w 820247"/>
                <a:gd name="csY48" fmla="*/ 7034 h 176753"/>
                <a:gd name="csX49" fmla="*/ 571228 w 820247"/>
                <a:gd name="csY49" fmla="*/ 17738 h 176753"/>
                <a:gd name="csX50" fmla="*/ 585750 w 820247"/>
                <a:gd name="csY50" fmla="*/ 65734 h 176753"/>
                <a:gd name="csX51" fmla="*/ 589467 w 820247"/>
                <a:gd name="csY51" fmla="*/ 88376 h 176753"/>
                <a:gd name="csX52" fmla="*/ 593184 w 820247"/>
                <a:gd name="csY52" fmla="*/ 111018 h 176753"/>
                <a:gd name="csX53" fmla="*/ 607706 w 820247"/>
                <a:gd name="csY53" fmla="*/ 159015 h 176753"/>
                <a:gd name="csX54" fmla="*/ 614572 w 820247"/>
                <a:gd name="csY54" fmla="*/ 169717 h 176753"/>
                <a:gd name="csX55" fmla="*/ 623567 w 820247"/>
                <a:gd name="csY55" fmla="*/ 176126 h 176753"/>
                <a:gd name="csX56" fmla="*/ 628162 w 820247"/>
                <a:gd name="csY56" fmla="*/ 176752 h 176753"/>
                <a:gd name="csX57" fmla="*/ 632657 w 820247"/>
                <a:gd name="csY57" fmla="*/ 176126 h 176753"/>
                <a:gd name="csX58" fmla="*/ 641654 w 820247"/>
                <a:gd name="csY58" fmla="*/ 169721 h 176753"/>
                <a:gd name="csX59" fmla="*/ 648517 w 820247"/>
                <a:gd name="csY59" fmla="*/ 159015 h 176753"/>
                <a:gd name="csX60" fmla="*/ 663040 w 820247"/>
                <a:gd name="csY60" fmla="*/ 111018 h 176753"/>
                <a:gd name="csX61" fmla="*/ 666755 w 820247"/>
                <a:gd name="csY61" fmla="*/ 88378 h 176753"/>
                <a:gd name="csX62" fmla="*/ 820246 w 820247"/>
                <a:gd name="csY62" fmla="*/ 88381 h 1767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</a:cxnLst>
              <a:rect l="l" t="t" r="r" b="b"/>
              <a:pathLst>
                <a:path w="820247" h="176753">
                  <a:moveTo>
                    <a:pt x="-1" y="88376"/>
                  </a:moveTo>
                  <a:lnTo>
                    <a:pt x="203012" y="88376"/>
                  </a:lnTo>
                  <a:cubicBezTo>
                    <a:pt x="204081" y="80773"/>
                    <a:pt x="205320" y="73220"/>
                    <a:pt x="206729" y="65734"/>
                  </a:cubicBezTo>
                  <a:cubicBezTo>
                    <a:pt x="209919" y="48784"/>
                    <a:pt x="214075" y="31901"/>
                    <a:pt x="221251" y="17738"/>
                  </a:cubicBezTo>
                  <a:cubicBezTo>
                    <a:pt x="223247" y="13799"/>
                    <a:pt x="225479" y="10078"/>
                    <a:pt x="228115" y="7031"/>
                  </a:cubicBezTo>
                  <a:cubicBezTo>
                    <a:pt x="230752" y="3986"/>
                    <a:pt x="233811" y="1628"/>
                    <a:pt x="237112" y="625"/>
                  </a:cubicBezTo>
                  <a:cubicBezTo>
                    <a:pt x="238620" y="167"/>
                    <a:pt x="240167" y="-6"/>
                    <a:pt x="241707" y="-1"/>
                  </a:cubicBezTo>
                  <a:cubicBezTo>
                    <a:pt x="243216" y="4"/>
                    <a:pt x="244727" y="177"/>
                    <a:pt x="246204" y="625"/>
                  </a:cubicBezTo>
                  <a:cubicBezTo>
                    <a:pt x="249505" y="1626"/>
                    <a:pt x="252564" y="3988"/>
                    <a:pt x="255199" y="7034"/>
                  </a:cubicBezTo>
                  <a:cubicBezTo>
                    <a:pt x="257834" y="10081"/>
                    <a:pt x="260066" y="13804"/>
                    <a:pt x="262064" y="17738"/>
                  </a:cubicBezTo>
                  <a:cubicBezTo>
                    <a:pt x="269255" y="31891"/>
                    <a:pt x="273479" y="48748"/>
                    <a:pt x="276586" y="65734"/>
                  </a:cubicBezTo>
                  <a:cubicBezTo>
                    <a:pt x="277958" y="73234"/>
                    <a:pt x="279132" y="80806"/>
                    <a:pt x="280304" y="88376"/>
                  </a:cubicBezTo>
                  <a:cubicBezTo>
                    <a:pt x="281476" y="95945"/>
                    <a:pt x="282649" y="103519"/>
                    <a:pt x="284021" y="111018"/>
                  </a:cubicBezTo>
                  <a:cubicBezTo>
                    <a:pt x="287128" y="128004"/>
                    <a:pt x="291351" y="144861"/>
                    <a:pt x="298543" y="159015"/>
                  </a:cubicBezTo>
                  <a:cubicBezTo>
                    <a:pt x="300542" y="162947"/>
                    <a:pt x="302774" y="166670"/>
                    <a:pt x="305409" y="169717"/>
                  </a:cubicBezTo>
                  <a:cubicBezTo>
                    <a:pt x="308044" y="172763"/>
                    <a:pt x="311103" y="175125"/>
                    <a:pt x="314404" y="176126"/>
                  </a:cubicBezTo>
                  <a:cubicBezTo>
                    <a:pt x="315912" y="176585"/>
                    <a:pt x="317458" y="176757"/>
                    <a:pt x="318999" y="176752"/>
                  </a:cubicBezTo>
                  <a:cubicBezTo>
                    <a:pt x="320507" y="176747"/>
                    <a:pt x="322019" y="176574"/>
                    <a:pt x="323495" y="176126"/>
                  </a:cubicBezTo>
                  <a:cubicBezTo>
                    <a:pt x="326795" y="175125"/>
                    <a:pt x="329854" y="172765"/>
                    <a:pt x="332489" y="169717"/>
                  </a:cubicBezTo>
                  <a:cubicBezTo>
                    <a:pt x="335126" y="166670"/>
                    <a:pt x="337357" y="162949"/>
                    <a:pt x="339356" y="159015"/>
                  </a:cubicBezTo>
                  <a:cubicBezTo>
                    <a:pt x="346547" y="144861"/>
                    <a:pt x="350771" y="128004"/>
                    <a:pt x="353878" y="111018"/>
                  </a:cubicBezTo>
                  <a:cubicBezTo>
                    <a:pt x="355250" y="103519"/>
                    <a:pt x="356422" y="95945"/>
                    <a:pt x="357595" y="88376"/>
                  </a:cubicBezTo>
                  <a:cubicBezTo>
                    <a:pt x="358767" y="80806"/>
                    <a:pt x="359940" y="73234"/>
                    <a:pt x="361311" y="65734"/>
                  </a:cubicBezTo>
                  <a:cubicBezTo>
                    <a:pt x="364419" y="48748"/>
                    <a:pt x="368642" y="31890"/>
                    <a:pt x="375834" y="17738"/>
                  </a:cubicBezTo>
                  <a:cubicBezTo>
                    <a:pt x="377832" y="13804"/>
                    <a:pt x="380065" y="10083"/>
                    <a:pt x="382700" y="7036"/>
                  </a:cubicBezTo>
                  <a:cubicBezTo>
                    <a:pt x="385336" y="3989"/>
                    <a:pt x="388394" y="1628"/>
                    <a:pt x="391695" y="625"/>
                  </a:cubicBezTo>
                  <a:cubicBezTo>
                    <a:pt x="393204" y="167"/>
                    <a:pt x="394749" y="-6"/>
                    <a:pt x="396291" y="-1"/>
                  </a:cubicBezTo>
                  <a:cubicBezTo>
                    <a:pt x="397799" y="4"/>
                    <a:pt x="399311" y="177"/>
                    <a:pt x="400786" y="625"/>
                  </a:cubicBezTo>
                  <a:cubicBezTo>
                    <a:pt x="404087" y="1626"/>
                    <a:pt x="407146" y="3988"/>
                    <a:pt x="409781" y="7034"/>
                  </a:cubicBezTo>
                  <a:cubicBezTo>
                    <a:pt x="412416" y="10081"/>
                    <a:pt x="414649" y="13804"/>
                    <a:pt x="416647" y="17738"/>
                  </a:cubicBezTo>
                  <a:cubicBezTo>
                    <a:pt x="423838" y="31891"/>
                    <a:pt x="428061" y="48748"/>
                    <a:pt x="431169" y="65734"/>
                  </a:cubicBezTo>
                  <a:cubicBezTo>
                    <a:pt x="432541" y="73234"/>
                    <a:pt x="433713" y="80806"/>
                    <a:pt x="434885" y="88376"/>
                  </a:cubicBezTo>
                  <a:cubicBezTo>
                    <a:pt x="436058" y="95945"/>
                    <a:pt x="437231" y="103519"/>
                    <a:pt x="438602" y="111018"/>
                  </a:cubicBezTo>
                  <a:cubicBezTo>
                    <a:pt x="441709" y="128005"/>
                    <a:pt x="445933" y="144861"/>
                    <a:pt x="453125" y="159015"/>
                  </a:cubicBezTo>
                  <a:cubicBezTo>
                    <a:pt x="455124" y="162947"/>
                    <a:pt x="457355" y="166670"/>
                    <a:pt x="459992" y="169717"/>
                  </a:cubicBezTo>
                  <a:cubicBezTo>
                    <a:pt x="462627" y="172763"/>
                    <a:pt x="465686" y="175125"/>
                    <a:pt x="468985" y="176126"/>
                  </a:cubicBezTo>
                  <a:cubicBezTo>
                    <a:pt x="470495" y="176585"/>
                    <a:pt x="472040" y="176757"/>
                    <a:pt x="473581" y="176752"/>
                  </a:cubicBezTo>
                  <a:cubicBezTo>
                    <a:pt x="475090" y="176747"/>
                    <a:pt x="476601" y="176574"/>
                    <a:pt x="478077" y="176126"/>
                  </a:cubicBezTo>
                  <a:cubicBezTo>
                    <a:pt x="481378" y="175125"/>
                    <a:pt x="484437" y="172765"/>
                    <a:pt x="487072" y="169717"/>
                  </a:cubicBezTo>
                  <a:cubicBezTo>
                    <a:pt x="489707" y="166670"/>
                    <a:pt x="491939" y="162949"/>
                    <a:pt x="493938" y="159015"/>
                  </a:cubicBezTo>
                  <a:cubicBezTo>
                    <a:pt x="501128" y="144861"/>
                    <a:pt x="505353" y="128004"/>
                    <a:pt x="508460" y="111018"/>
                  </a:cubicBezTo>
                  <a:cubicBezTo>
                    <a:pt x="509831" y="103519"/>
                    <a:pt x="511005" y="95945"/>
                    <a:pt x="512177" y="88376"/>
                  </a:cubicBezTo>
                  <a:cubicBezTo>
                    <a:pt x="513349" y="80806"/>
                    <a:pt x="514522" y="73234"/>
                    <a:pt x="515894" y="65734"/>
                  </a:cubicBezTo>
                  <a:cubicBezTo>
                    <a:pt x="519000" y="48748"/>
                    <a:pt x="523224" y="31890"/>
                    <a:pt x="530416" y="17738"/>
                  </a:cubicBezTo>
                  <a:cubicBezTo>
                    <a:pt x="532415" y="13804"/>
                    <a:pt x="534647" y="10083"/>
                    <a:pt x="537282" y="7036"/>
                  </a:cubicBezTo>
                  <a:cubicBezTo>
                    <a:pt x="539917" y="3989"/>
                    <a:pt x="542975" y="1628"/>
                    <a:pt x="546276" y="625"/>
                  </a:cubicBezTo>
                  <a:cubicBezTo>
                    <a:pt x="547784" y="167"/>
                    <a:pt x="549330" y="-6"/>
                    <a:pt x="550871" y="-1"/>
                  </a:cubicBezTo>
                  <a:cubicBezTo>
                    <a:pt x="552379" y="4"/>
                    <a:pt x="553891" y="177"/>
                    <a:pt x="555367" y="625"/>
                  </a:cubicBezTo>
                  <a:cubicBezTo>
                    <a:pt x="558668" y="1626"/>
                    <a:pt x="561726" y="3988"/>
                    <a:pt x="564361" y="7034"/>
                  </a:cubicBezTo>
                  <a:cubicBezTo>
                    <a:pt x="566997" y="10081"/>
                    <a:pt x="569229" y="13804"/>
                    <a:pt x="571228" y="17738"/>
                  </a:cubicBezTo>
                  <a:cubicBezTo>
                    <a:pt x="578418" y="31891"/>
                    <a:pt x="582643" y="48748"/>
                    <a:pt x="585750" y="65734"/>
                  </a:cubicBezTo>
                  <a:cubicBezTo>
                    <a:pt x="587121" y="73234"/>
                    <a:pt x="588293" y="80806"/>
                    <a:pt x="589467" y="88376"/>
                  </a:cubicBezTo>
                  <a:cubicBezTo>
                    <a:pt x="590639" y="95947"/>
                    <a:pt x="591812" y="103519"/>
                    <a:pt x="593184" y="111018"/>
                  </a:cubicBezTo>
                  <a:cubicBezTo>
                    <a:pt x="596292" y="128004"/>
                    <a:pt x="600514" y="144861"/>
                    <a:pt x="607706" y="159015"/>
                  </a:cubicBezTo>
                  <a:cubicBezTo>
                    <a:pt x="609704" y="162947"/>
                    <a:pt x="611937" y="166670"/>
                    <a:pt x="614572" y="169717"/>
                  </a:cubicBezTo>
                  <a:cubicBezTo>
                    <a:pt x="617208" y="172763"/>
                    <a:pt x="620266" y="175125"/>
                    <a:pt x="623567" y="176126"/>
                  </a:cubicBezTo>
                  <a:cubicBezTo>
                    <a:pt x="625075" y="176585"/>
                    <a:pt x="626620" y="176757"/>
                    <a:pt x="628162" y="176752"/>
                  </a:cubicBezTo>
                  <a:cubicBezTo>
                    <a:pt x="629670" y="176747"/>
                    <a:pt x="631182" y="176574"/>
                    <a:pt x="632657" y="176126"/>
                  </a:cubicBezTo>
                  <a:cubicBezTo>
                    <a:pt x="635958" y="175126"/>
                    <a:pt x="639018" y="172768"/>
                    <a:pt x="641654" y="169721"/>
                  </a:cubicBezTo>
                  <a:cubicBezTo>
                    <a:pt x="644291" y="166675"/>
                    <a:pt x="646523" y="162952"/>
                    <a:pt x="648517" y="159015"/>
                  </a:cubicBezTo>
                  <a:cubicBezTo>
                    <a:pt x="655694" y="144850"/>
                    <a:pt x="659850" y="127968"/>
                    <a:pt x="663040" y="111018"/>
                  </a:cubicBezTo>
                  <a:cubicBezTo>
                    <a:pt x="664448" y="103533"/>
                    <a:pt x="665688" y="95981"/>
                    <a:pt x="666755" y="88378"/>
                  </a:cubicBezTo>
                  <a:lnTo>
                    <a:pt x="820246" y="88381"/>
                  </a:lnTo>
                </a:path>
              </a:pathLst>
            </a:custGeom>
            <a:noFill/>
            <a:ln w="21590" cap="flat">
              <a:solidFill>
                <a:srgbClr val="C00000"/>
              </a:solidFill>
              <a:prstDash val="solid"/>
              <a:miter/>
            </a:ln>
          </p:spPr>
        </p: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0F50881F-31EF-79BF-518F-7DBDCB7F4177}"/>
                </a:ext>
              </a:extLst>
            </p:cNvPr>
            <p:cNvCxnSpPr>
              <a:cxnSpLocks/>
              <a:stCxn id="43" idx="61"/>
            </p:cNvCxnSpPr>
            <p:nvPr/>
          </p:nvCxnSpPr>
          <p:spPr>
            <a:xfrm>
              <a:off x="7887627" y="2221784"/>
              <a:ext cx="230566" cy="158912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DF98A5C4-7078-F66E-17D9-8EC293C74E9A}"/>
              </a:ext>
            </a:extLst>
          </p:cNvPr>
          <p:cNvGrpSpPr/>
          <p:nvPr/>
        </p:nvGrpSpPr>
        <p:grpSpPr>
          <a:xfrm>
            <a:off x="5813019" y="1992240"/>
            <a:ext cx="853787" cy="390289"/>
            <a:chOff x="7264406" y="1990407"/>
            <a:chExt cx="853787" cy="390289"/>
          </a:xfrm>
        </p:grpSpPr>
        <p:sp>
          <p:nvSpPr>
            <p:cNvPr id="51" name="图形 41">
              <a:extLst>
                <a:ext uri="{FF2B5EF4-FFF2-40B4-BE49-F238E27FC236}">
                  <a16:creationId xmlns:a16="http://schemas.microsoft.com/office/drawing/2014/main" id="{A0DC7BC1-86C9-BC8C-4E12-72C265516A42}"/>
                </a:ext>
              </a:extLst>
            </p:cNvPr>
            <p:cNvSpPr/>
            <p:nvPr/>
          </p:nvSpPr>
          <p:spPr>
            <a:xfrm rot="2031806">
              <a:off x="7264406" y="1990407"/>
              <a:ext cx="820247" cy="176753"/>
            </a:xfrm>
            <a:custGeom>
              <a:avLst/>
              <a:gdLst>
                <a:gd name="csX0" fmla="*/ -1 w 820247"/>
                <a:gd name="csY0" fmla="*/ 88376 h 176753"/>
                <a:gd name="csX1" fmla="*/ 203012 w 820247"/>
                <a:gd name="csY1" fmla="*/ 88376 h 176753"/>
                <a:gd name="csX2" fmla="*/ 206729 w 820247"/>
                <a:gd name="csY2" fmla="*/ 65734 h 176753"/>
                <a:gd name="csX3" fmla="*/ 221251 w 820247"/>
                <a:gd name="csY3" fmla="*/ 17738 h 176753"/>
                <a:gd name="csX4" fmla="*/ 228115 w 820247"/>
                <a:gd name="csY4" fmla="*/ 7031 h 176753"/>
                <a:gd name="csX5" fmla="*/ 237112 w 820247"/>
                <a:gd name="csY5" fmla="*/ 625 h 176753"/>
                <a:gd name="csX6" fmla="*/ 241707 w 820247"/>
                <a:gd name="csY6" fmla="*/ -1 h 176753"/>
                <a:gd name="csX7" fmla="*/ 246204 w 820247"/>
                <a:gd name="csY7" fmla="*/ 625 h 176753"/>
                <a:gd name="csX8" fmla="*/ 255199 w 820247"/>
                <a:gd name="csY8" fmla="*/ 7034 h 176753"/>
                <a:gd name="csX9" fmla="*/ 262064 w 820247"/>
                <a:gd name="csY9" fmla="*/ 17738 h 176753"/>
                <a:gd name="csX10" fmla="*/ 276586 w 820247"/>
                <a:gd name="csY10" fmla="*/ 65734 h 176753"/>
                <a:gd name="csX11" fmla="*/ 280304 w 820247"/>
                <a:gd name="csY11" fmla="*/ 88376 h 176753"/>
                <a:gd name="csX12" fmla="*/ 284021 w 820247"/>
                <a:gd name="csY12" fmla="*/ 111018 h 176753"/>
                <a:gd name="csX13" fmla="*/ 298543 w 820247"/>
                <a:gd name="csY13" fmla="*/ 159015 h 176753"/>
                <a:gd name="csX14" fmla="*/ 305409 w 820247"/>
                <a:gd name="csY14" fmla="*/ 169717 h 176753"/>
                <a:gd name="csX15" fmla="*/ 314404 w 820247"/>
                <a:gd name="csY15" fmla="*/ 176126 h 176753"/>
                <a:gd name="csX16" fmla="*/ 318999 w 820247"/>
                <a:gd name="csY16" fmla="*/ 176752 h 176753"/>
                <a:gd name="csX17" fmla="*/ 323495 w 820247"/>
                <a:gd name="csY17" fmla="*/ 176126 h 176753"/>
                <a:gd name="csX18" fmla="*/ 332489 w 820247"/>
                <a:gd name="csY18" fmla="*/ 169717 h 176753"/>
                <a:gd name="csX19" fmla="*/ 339356 w 820247"/>
                <a:gd name="csY19" fmla="*/ 159015 h 176753"/>
                <a:gd name="csX20" fmla="*/ 353878 w 820247"/>
                <a:gd name="csY20" fmla="*/ 111018 h 176753"/>
                <a:gd name="csX21" fmla="*/ 357595 w 820247"/>
                <a:gd name="csY21" fmla="*/ 88376 h 176753"/>
                <a:gd name="csX22" fmla="*/ 361311 w 820247"/>
                <a:gd name="csY22" fmla="*/ 65734 h 176753"/>
                <a:gd name="csX23" fmla="*/ 375834 w 820247"/>
                <a:gd name="csY23" fmla="*/ 17738 h 176753"/>
                <a:gd name="csX24" fmla="*/ 382700 w 820247"/>
                <a:gd name="csY24" fmla="*/ 7036 h 176753"/>
                <a:gd name="csX25" fmla="*/ 391695 w 820247"/>
                <a:gd name="csY25" fmla="*/ 625 h 176753"/>
                <a:gd name="csX26" fmla="*/ 396291 w 820247"/>
                <a:gd name="csY26" fmla="*/ -1 h 176753"/>
                <a:gd name="csX27" fmla="*/ 400786 w 820247"/>
                <a:gd name="csY27" fmla="*/ 625 h 176753"/>
                <a:gd name="csX28" fmla="*/ 409781 w 820247"/>
                <a:gd name="csY28" fmla="*/ 7034 h 176753"/>
                <a:gd name="csX29" fmla="*/ 416647 w 820247"/>
                <a:gd name="csY29" fmla="*/ 17738 h 176753"/>
                <a:gd name="csX30" fmla="*/ 431169 w 820247"/>
                <a:gd name="csY30" fmla="*/ 65734 h 176753"/>
                <a:gd name="csX31" fmla="*/ 434885 w 820247"/>
                <a:gd name="csY31" fmla="*/ 88376 h 176753"/>
                <a:gd name="csX32" fmla="*/ 438602 w 820247"/>
                <a:gd name="csY32" fmla="*/ 111018 h 176753"/>
                <a:gd name="csX33" fmla="*/ 453125 w 820247"/>
                <a:gd name="csY33" fmla="*/ 159015 h 176753"/>
                <a:gd name="csX34" fmla="*/ 459992 w 820247"/>
                <a:gd name="csY34" fmla="*/ 169717 h 176753"/>
                <a:gd name="csX35" fmla="*/ 468985 w 820247"/>
                <a:gd name="csY35" fmla="*/ 176126 h 176753"/>
                <a:gd name="csX36" fmla="*/ 473581 w 820247"/>
                <a:gd name="csY36" fmla="*/ 176752 h 176753"/>
                <a:gd name="csX37" fmla="*/ 478077 w 820247"/>
                <a:gd name="csY37" fmla="*/ 176126 h 176753"/>
                <a:gd name="csX38" fmla="*/ 487072 w 820247"/>
                <a:gd name="csY38" fmla="*/ 169717 h 176753"/>
                <a:gd name="csX39" fmla="*/ 493938 w 820247"/>
                <a:gd name="csY39" fmla="*/ 159015 h 176753"/>
                <a:gd name="csX40" fmla="*/ 508460 w 820247"/>
                <a:gd name="csY40" fmla="*/ 111018 h 176753"/>
                <a:gd name="csX41" fmla="*/ 512177 w 820247"/>
                <a:gd name="csY41" fmla="*/ 88376 h 176753"/>
                <a:gd name="csX42" fmla="*/ 515894 w 820247"/>
                <a:gd name="csY42" fmla="*/ 65734 h 176753"/>
                <a:gd name="csX43" fmla="*/ 530416 w 820247"/>
                <a:gd name="csY43" fmla="*/ 17738 h 176753"/>
                <a:gd name="csX44" fmla="*/ 537282 w 820247"/>
                <a:gd name="csY44" fmla="*/ 7036 h 176753"/>
                <a:gd name="csX45" fmla="*/ 546276 w 820247"/>
                <a:gd name="csY45" fmla="*/ 625 h 176753"/>
                <a:gd name="csX46" fmla="*/ 550871 w 820247"/>
                <a:gd name="csY46" fmla="*/ -1 h 176753"/>
                <a:gd name="csX47" fmla="*/ 555367 w 820247"/>
                <a:gd name="csY47" fmla="*/ 625 h 176753"/>
                <a:gd name="csX48" fmla="*/ 564361 w 820247"/>
                <a:gd name="csY48" fmla="*/ 7034 h 176753"/>
                <a:gd name="csX49" fmla="*/ 571228 w 820247"/>
                <a:gd name="csY49" fmla="*/ 17738 h 176753"/>
                <a:gd name="csX50" fmla="*/ 585750 w 820247"/>
                <a:gd name="csY50" fmla="*/ 65734 h 176753"/>
                <a:gd name="csX51" fmla="*/ 589467 w 820247"/>
                <a:gd name="csY51" fmla="*/ 88376 h 176753"/>
                <a:gd name="csX52" fmla="*/ 593184 w 820247"/>
                <a:gd name="csY52" fmla="*/ 111018 h 176753"/>
                <a:gd name="csX53" fmla="*/ 607706 w 820247"/>
                <a:gd name="csY53" fmla="*/ 159015 h 176753"/>
                <a:gd name="csX54" fmla="*/ 614572 w 820247"/>
                <a:gd name="csY54" fmla="*/ 169717 h 176753"/>
                <a:gd name="csX55" fmla="*/ 623567 w 820247"/>
                <a:gd name="csY55" fmla="*/ 176126 h 176753"/>
                <a:gd name="csX56" fmla="*/ 628162 w 820247"/>
                <a:gd name="csY56" fmla="*/ 176752 h 176753"/>
                <a:gd name="csX57" fmla="*/ 632657 w 820247"/>
                <a:gd name="csY57" fmla="*/ 176126 h 176753"/>
                <a:gd name="csX58" fmla="*/ 641654 w 820247"/>
                <a:gd name="csY58" fmla="*/ 169721 h 176753"/>
                <a:gd name="csX59" fmla="*/ 648517 w 820247"/>
                <a:gd name="csY59" fmla="*/ 159015 h 176753"/>
                <a:gd name="csX60" fmla="*/ 663040 w 820247"/>
                <a:gd name="csY60" fmla="*/ 111018 h 176753"/>
                <a:gd name="csX61" fmla="*/ 666755 w 820247"/>
                <a:gd name="csY61" fmla="*/ 88378 h 176753"/>
                <a:gd name="csX62" fmla="*/ 820246 w 820247"/>
                <a:gd name="csY62" fmla="*/ 88381 h 1767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</a:cxnLst>
              <a:rect l="l" t="t" r="r" b="b"/>
              <a:pathLst>
                <a:path w="820247" h="176753">
                  <a:moveTo>
                    <a:pt x="-1" y="88376"/>
                  </a:moveTo>
                  <a:lnTo>
                    <a:pt x="203012" y="88376"/>
                  </a:lnTo>
                  <a:cubicBezTo>
                    <a:pt x="204081" y="80773"/>
                    <a:pt x="205320" y="73220"/>
                    <a:pt x="206729" y="65734"/>
                  </a:cubicBezTo>
                  <a:cubicBezTo>
                    <a:pt x="209919" y="48784"/>
                    <a:pt x="214075" y="31901"/>
                    <a:pt x="221251" y="17738"/>
                  </a:cubicBezTo>
                  <a:cubicBezTo>
                    <a:pt x="223247" y="13799"/>
                    <a:pt x="225479" y="10078"/>
                    <a:pt x="228115" y="7031"/>
                  </a:cubicBezTo>
                  <a:cubicBezTo>
                    <a:pt x="230752" y="3986"/>
                    <a:pt x="233811" y="1628"/>
                    <a:pt x="237112" y="625"/>
                  </a:cubicBezTo>
                  <a:cubicBezTo>
                    <a:pt x="238620" y="167"/>
                    <a:pt x="240167" y="-6"/>
                    <a:pt x="241707" y="-1"/>
                  </a:cubicBezTo>
                  <a:cubicBezTo>
                    <a:pt x="243216" y="4"/>
                    <a:pt x="244727" y="177"/>
                    <a:pt x="246204" y="625"/>
                  </a:cubicBezTo>
                  <a:cubicBezTo>
                    <a:pt x="249505" y="1626"/>
                    <a:pt x="252564" y="3988"/>
                    <a:pt x="255199" y="7034"/>
                  </a:cubicBezTo>
                  <a:cubicBezTo>
                    <a:pt x="257834" y="10081"/>
                    <a:pt x="260066" y="13804"/>
                    <a:pt x="262064" y="17738"/>
                  </a:cubicBezTo>
                  <a:cubicBezTo>
                    <a:pt x="269255" y="31891"/>
                    <a:pt x="273479" y="48748"/>
                    <a:pt x="276586" y="65734"/>
                  </a:cubicBezTo>
                  <a:cubicBezTo>
                    <a:pt x="277958" y="73234"/>
                    <a:pt x="279132" y="80806"/>
                    <a:pt x="280304" y="88376"/>
                  </a:cubicBezTo>
                  <a:cubicBezTo>
                    <a:pt x="281476" y="95945"/>
                    <a:pt x="282649" y="103519"/>
                    <a:pt x="284021" y="111018"/>
                  </a:cubicBezTo>
                  <a:cubicBezTo>
                    <a:pt x="287128" y="128004"/>
                    <a:pt x="291351" y="144861"/>
                    <a:pt x="298543" y="159015"/>
                  </a:cubicBezTo>
                  <a:cubicBezTo>
                    <a:pt x="300542" y="162947"/>
                    <a:pt x="302774" y="166670"/>
                    <a:pt x="305409" y="169717"/>
                  </a:cubicBezTo>
                  <a:cubicBezTo>
                    <a:pt x="308044" y="172763"/>
                    <a:pt x="311103" y="175125"/>
                    <a:pt x="314404" y="176126"/>
                  </a:cubicBezTo>
                  <a:cubicBezTo>
                    <a:pt x="315912" y="176585"/>
                    <a:pt x="317458" y="176757"/>
                    <a:pt x="318999" y="176752"/>
                  </a:cubicBezTo>
                  <a:cubicBezTo>
                    <a:pt x="320507" y="176747"/>
                    <a:pt x="322019" y="176574"/>
                    <a:pt x="323495" y="176126"/>
                  </a:cubicBezTo>
                  <a:cubicBezTo>
                    <a:pt x="326795" y="175125"/>
                    <a:pt x="329854" y="172765"/>
                    <a:pt x="332489" y="169717"/>
                  </a:cubicBezTo>
                  <a:cubicBezTo>
                    <a:pt x="335126" y="166670"/>
                    <a:pt x="337357" y="162949"/>
                    <a:pt x="339356" y="159015"/>
                  </a:cubicBezTo>
                  <a:cubicBezTo>
                    <a:pt x="346547" y="144861"/>
                    <a:pt x="350771" y="128004"/>
                    <a:pt x="353878" y="111018"/>
                  </a:cubicBezTo>
                  <a:cubicBezTo>
                    <a:pt x="355250" y="103519"/>
                    <a:pt x="356422" y="95945"/>
                    <a:pt x="357595" y="88376"/>
                  </a:cubicBezTo>
                  <a:cubicBezTo>
                    <a:pt x="358767" y="80806"/>
                    <a:pt x="359940" y="73234"/>
                    <a:pt x="361311" y="65734"/>
                  </a:cubicBezTo>
                  <a:cubicBezTo>
                    <a:pt x="364419" y="48748"/>
                    <a:pt x="368642" y="31890"/>
                    <a:pt x="375834" y="17738"/>
                  </a:cubicBezTo>
                  <a:cubicBezTo>
                    <a:pt x="377832" y="13804"/>
                    <a:pt x="380065" y="10083"/>
                    <a:pt x="382700" y="7036"/>
                  </a:cubicBezTo>
                  <a:cubicBezTo>
                    <a:pt x="385336" y="3989"/>
                    <a:pt x="388394" y="1628"/>
                    <a:pt x="391695" y="625"/>
                  </a:cubicBezTo>
                  <a:cubicBezTo>
                    <a:pt x="393204" y="167"/>
                    <a:pt x="394749" y="-6"/>
                    <a:pt x="396291" y="-1"/>
                  </a:cubicBezTo>
                  <a:cubicBezTo>
                    <a:pt x="397799" y="4"/>
                    <a:pt x="399311" y="177"/>
                    <a:pt x="400786" y="625"/>
                  </a:cubicBezTo>
                  <a:cubicBezTo>
                    <a:pt x="404087" y="1626"/>
                    <a:pt x="407146" y="3988"/>
                    <a:pt x="409781" y="7034"/>
                  </a:cubicBezTo>
                  <a:cubicBezTo>
                    <a:pt x="412416" y="10081"/>
                    <a:pt x="414649" y="13804"/>
                    <a:pt x="416647" y="17738"/>
                  </a:cubicBezTo>
                  <a:cubicBezTo>
                    <a:pt x="423838" y="31891"/>
                    <a:pt x="428061" y="48748"/>
                    <a:pt x="431169" y="65734"/>
                  </a:cubicBezTo>
                  <a:cubicBezTo>
                    <a:pt x="432541" y="73234"/>
                    <a:pt x="433713" y="80806"/>
                    <a:pt x="434885" y="88376"/>
                  </a:cubicBezTo>
                  <a:cubicBezTo>
                    <a:pt x="436058" y="95945"/>
                    <a:pt x="437231" y="103519"/>
                    <a:pt x="438602" y="111018"/>
                  </a:cubicBezTo>
                  <a:cubicBezTo>
                    <a:pt x="441709" y="128005"/>
                    <a:pt x="445933" y="144861"/>
                    <a:pt x="453125" y="159015"/>
                  </a:cubicBezTo>
                  <a:cubicBezTo>
                    <a:pt x="455124" y="162947"/>
                    <a:pt x="457355" y="166670"/>
                    <a:pt x="459992" y="169717"/>
                  </a:cubicBezTo>
                  <a:cubicBezTo>
                    <a:pt x="462627" y="172763"/>
                    <a:pt x="465686" y="175125"/>
                    <a:pt x="468985" y="176126"/>
                  </a:cubicBezTo>
                  <a:cubicBezTo>
                    <a:pt x="470495" y="176585"/>
                    <a:pt x="472040" y="176757"/>
                    <a:pt x="473581" y="176752"/>
                  </a:cubicBezTo>
                  <a:cubicBezTo>
                    <a:pt x="475090" y="176747"/>
                    <a:pt x="476601" y="176574"/>
                    <a:pt x="478077" y="176126"/>
                  </a:cubicBezTo>
                  <a:cubicBezTo>
                    <a:pt x="481378" y="175125"/>
                    <a:pt x="484437" y="172765"/>
                    <a:pt x="487072" y="169717"/>
                  </a:cubicBezTo>
                  <a:cubicBezTo>
                    <a:pt x="489707" y="166670"/>
                    <a:pt x="491939" y="162949"/>
                    <a:pt x="493938" y="159015"/>
                  </a:cubicBezTo>
                  <a:cubicBezTo>
                    <a:pt x="501128" y="144861"/>
                    <a:pt x="505353" y="128004"/>
                    <a:pt x="508460" y="111018"/>
                  </a:cubicBezTo>
                  <a:cubicBezTo>
                    <a:pt x="509831" y="103519"/>
                    <a:pt x="511005" y="95945"/>
                    <a:pt x="512177" y="88376"/>
                  </a:cubicBezTo>
                  <a:cubicBezTo>
                    <a:pt x="513349" y="80806"/>
                    <a:pt x="514522" y="73234"/>
                    <a:pt x="515894" y="65734"/>
                  </a:cubicBezTo>
                  <a:cubicBezTo>
                    <a:pt x="519000" y="48748"/>
                    <a:pt x="523224" y="31890"/>
                    <a:pt x="530416" y="17738"/>
                  </a:cubicBezTo>
                  <a:cubicBezTo>
                    <a:pt x="532415" y="13804"/>
                    <a:pt x="534647" y="10083"/>
                    <a:pt x="537282" y="7036"/>
                  </a:cubicBezTo>
                  <a:cubicBezTo>
                    <a:pt x="539917" y="3989"/>
                    <a:pt x="542975" y="1628"/>
                    <a:pt x="546276" y="625"/>
                  </a:cubicBezTo>
                  <a:cubicBezTo>
                    <a:pt x="547784" y="167"/>
                    <a:pt x="549330" y="-6"/>
                    <a:pt x="550871" y="-1"/>
                  </a:cubicBezTo>
                  <a:cubicBezTo>
                    <a:pt x="552379" y="4"/>
                    <a:pt x="553891" y="177"/>
                    <a:pt x="555367" y="625"/>
                  </a:cubicBezTo>
                  <a:cubicBezTo>
                    <a:pt x="558668" y="1626"/>
                    <a:pt x="561726" y="3988"/>
                    <a:pt x="564361" y="7034"/>
                  </a:cubicBezTo>
                  <a:cubicBezTo>
                    <a:pt x="566997" y="10081"/>
                    <a:pt x="569229" y="13804"/>
                    <a:pt x="571228" y="17738"/>
                  </a:cubicBezTo>
                  <a:cubicBezTo>
                    <a:pt x="578418" y="31891"/>
                    <a:pt x="582643" y="48748"/>
                    <a:pt x="585750" y="65734"/>
                  </a:cubicBezTo>
                  <a:cubicBezTo>
                    <a:pt x="587121" y="73234"/>
                    <a:pt x="588293" y="80806"/>
                    <a:pt x="589467" y="88376"/>
                  </a:cubicBezTo>
                  <a:cubicBezTo>
                    <a:pt x="590639" y="95947"/>
                    <a:pt x="591812" y="103519"/>
                    <a:pt x="593184" y="111018"/>
                  </a:cubicBezTo>
                  <a:cubicBezTo>
                    <a:pt x="596292" y="128004"/>
                    <a:pt x="600514" y="144861"/>
                    <a:pt x="607706" y="159015"/>
                  </a:cubicBezTo>
                  <a:cubicBezTo>
                    <a:pt x="609704" y="162947"/>
                    <a:pt x="611937" y="166670"/>
                    <a:pt x="614572" y="169717"/>
                  </a:cubicBezTo>
                  <a:cubicBezTo>
                    <a:pt x="617208" y="172763"/>
                    <a:pt x="620266" y="175125"/>
                    <a:pt x="623567" y="176126"/>
                  </a:cubicBezTo>
                  <a:cubicBezTo>
                    <a:pt x="625075" y="176585"/>
                    <a:pt x="626620" y="176757"/>
                    <a:pt x="628162" y="176752"/>
                  </a:cubicBezTo>
                  <a:cubicBezTo>
                    <a:pt x="629670" y="176747"/>
                    <a:pt x="631182" y="176574"/>
                    <a:pt x="632657" y="176126"/>
                  </a:cubicBezTo>
                  <a:cubicBezTo>
                    <a:pt x="635958" y="175126"/>
                    <a:pt x="639018" y="172768"/>
                    <a:pt x="641654" y="169721"/>
                  </a:cubicBezTo>
                  <a:cubicBezTo>
                    <a:pt x="644291" y="166675"/>
                    <a:pt x="646523" y="162952"/>
                    <a:pt x="648517" y="159015"/>
                  </a:cubicBezTo>
                  <a:cubicBezTo>
                    <a:pt x="655694" y="144850"/>
                    <a:pt x="659850" y="127968"/>
                    <a:pt x="663040" y="111018"/>
                  </a:cubicBezTo>
                  <a:cubicBezTo>
                    <a:pt x="664448" y="103533"/>
                    <a:pt x="665688" y="95981"/>
                    <a:pt x="666755" y="88378"/>
                  </a:cubicBezTo>
                  <a:lnTo>
                    <a:pt x="820246" y="88381"/>
                  </a:lnTo>
                </a:path>
              </a:pathLst>
            </a:custGeom>
            <a:noFill/>
            <a:ln w="21590" cap="flat">
              <a:solidFill>
                <a:srgbClr val="C00000"/>
              </a:solidFill>
              <a:prstDash val="solid"/>
              <a:miter/>
            </a:ln>
          </p:spPr>
        </p: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3262FD33-38F2-2855-992B-50CCC5FB9073}"/>
                </a:ext>
              </a:extLst>
            </p:cNvPr>
            <p:cNvCxnSpPr>
              <a:cxnSpLocks/>
              <a:stCxn id="51" idx="61"/>
            </p:cNvCxnSpPr>
            <p:nvPr/>
          </p:nvCxnSpPr>
          <p:spPr>
            <a:xfrm>
              <a:off x="7887627" y="2221784"/>
              <a:ext cx="230566" cy="158912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F26EA3E7-A0F2-D4BF-5C45-5DD30BE1F3E5}"/>
              </a:ext>
            </a:extLst>
          </p:cNvPr>
          <p:cNvGrpSpPr/>
          <p:nvPr/>
        </p:nvGrpSpPr>
        <p:grpSpPr>
          <a:xfrm>
            <a:off x="4617604" y="2010474"/>
            <a:ext cx="853787" cy="390289"/>
            <a:chOff x="7264406" y="1990407"/>
            <a:chExt cx="853787" cy="390289"/>
          </a:xfrm>
        </p:grpSpPr>
        <p:sp>
          <p:nvSpPr>
            <p:cNvPr id="54" name="图形 41">
              <a:extLst>
                <a:ext uri="{FF2B5EF4-FFF2-40B4-BE49-F238E27FC236}">
                  <a16:creationId xmlns:a16="http://schemas.microsoft.com/office/drawing/2014/main" id="{AA5BF943-2109-92AB-89AB-C541F5E330C2}"/>
                </a:ext>
              </a:extLst>
            </p:cNvPr>
            <p:cNvSpPr/>
            <p:nvPr/>
          </p:nvSpPr>
          <p:spPr>
            <a:xfrm rot="2031806">
              <a:off x="7264406" y="1990407"/>
              <a:ext cx="820247" cy="176753"/>
            </a:xfrm>
            <a:custGeom>
              <a:avLst/>
              <a:gdLst>
                <a:gd name="csX0" fmla="*/ -1 w 820247"/>
                <a:gd name="csY0" fmla="*/ 88376 h 176753"/>
                <a:gd name="csX1" fmla="*/ 203012 w 820247"/>
                <a:gd name="csY1" fmla="*/ 88376 h 176753"/>
                <a:gd name="csX2" fmla="*/ 206729 w 820247"/>
                <a:gd name="csY2" fmla="*/ 65734 h 176753"/>
                <a:gd name="csX3" fmla="*/ 221251 w 820247"/>
                <a:gd name="csY3" fmla="*/ 17738 h 176753"/>
                <a:gd name="csX4" fmla="*/ 228115 w 820247"/>
                <a:gd name="csY4" fmla="*/ 7031 h 176753"/>
                <a:gd name="csX5" fmla="*/ 237112 w 820247"/>
                <a:gd name="csY5" fmla="*/ 625 h 176753"/>
                <a:gd name="csX6" fmla="*/ 241707 w 820247"/>
                <a:gd name="csY6" fmla="*/ -1 h 176753"/>
                <a:gd name="csX7" fmla="*/ 246204 w 820247"/>
                <a:gd name="csY7" fmla="*/ 625 h 176753"/>
                <a:gd name="csX8" fmla="*/ 255199 w 820247"/>
                <a:gd name="csY8" fmla="*/ 7034 h 176753"/>
                <a:gd name="csX9" fmla="*/ 262064 w 820247"/>
                <a:gd name="csY9" fmla="*/ 17738 h 176753"/>
                <a:gd name="csX10" fmla="*/ 276586 w 820247"/>
                <a:gd name="csY10" fmla="*/ 65734 h 176753"/>
                <a:gd name="csX11" fmla="*/ 280304 w 820247"/>
                <a:gd name="csY11" fmla="*/ 88376 h 176753"/>
                <a:gd name="csX12" fmla="*/ 284021 w 820247"/>
                <a:gd name="csY12" fmla="*/ 111018 h 176753"/>
                <a:gd name="csX13" fmla="*/ 298543 w 820247"/>
                <a:gd name="csY13" fmla="*/ 159015 h 176753"/>
                <a:gd name="csX14" fmla="*/ 305409 w 820247"/>
                <a:gd name="csY14" fmla="*/ 169717 h 176753"/>
                <a:gd name="csX15" fmla="*/ 314404 w 820247"/>
                <a:gd name="csY15" fmla="*/ 176126 h 176753"/>
                <a:gd name="csX16" fmla="*/ 318999 w 820247"/>
                <a:gd name="csY16" fmla="*/ 176752 h 176753"/>
                <a:gd name="csX17" fmla="*/ 323495 w 820247"/>
                <a:gd name="csY17" fmla="*/ 176126 h 176753"/>
                <a:gd name="csX18" fmla="*/ 332489 w 820247"/>
                <a:gd name="csY18" fmla="*/ 169717 h 176753"/>
                <a:gd name="csX19" fmla="*/ 339356 w 820247"/>
                <a:gd name="csY19" fmla="*/ 159015 h 176753"/>
                <a:gd name="csX20" fmla="*/ 353878 w 820247"/>
                <a:gd name="csY20" fmla="*/ 111018 h 176753"/>
                <a:gd name="csX21" fmla="*/ 357595 w 820247"/>
                <a:gd name="csY21" fmla="*/ 88376 h 176753"/>
                <a:gd name="csX22" fmla="*/ 361311 w 820247"/>
                <a:gd name="csY22" fmla="*/ 65734 h 176753"/>
                <a:gd name="csX23" fmla="*/ 375834 w 820247"/>
                <a:gd name="csY23" fmla="*/ 17738 h 176753"/>
                <a:gd name="csX24" fmla="*/ 382700 w 820247"/>
                <a:gd name="csY24" fmla="*/ 7036 h 176753"/>
                <a:gd name="csX25" fmla="*/ 391695 w 820247"/>
                <a:gd name="csY25" fmla="*/ 625 h 176753"/>
                <a:gd name="csX26" fmla="*/ 396291 w 820247"/>
                <a:gd name="csY26" fmla="*/ -1 h 176753"/>
                <a:gd name="csX27" fmla="*/ 400786 w 820247"/>
                <a:gd name="csY27" fmla="*/ 625 h 176753"/>
                <a:gd name="csX28" fmla="*/ 409781 w 820247"/>
                <a:gd name="csY28" fmla="*/ 7034 h 176753"/>
                <a:gd name="csX29" fmla="*/ 416647 w 820247"/>
                <a:gd name="csY29" fmla="*/ 17738 h 176753"/>
                <a:gd name="csX30" fmla="*/ 431169 w 820247"/>
                <a:gd name="csY30" fmla="*/ 65734 h 176753"/>
                <a:gd name="csX31" fmla="*/ 434885 w 820247"/>
                <a:gd name="csY31" fmla="*/ 88376 h 176753"/>
                <a:gd name="csX32" fmla="*/ 438602 w 820247"/>
                <a:gd name="csY32" fmla="*/ 111018 h 176753"/>
                <a:gd name="csX33" fmla="*/ 453125 w 820247"/>
                <a:gd name="csY33" fmla="*/ 159015 h 176753"/>
                <a:gd name="csX34" fmla="*/ 459992 w 820247"/>
                <a:gd name="csY34" fmla="*/ 169717 h 176753"/>
                <a:gd name="csX35" fmla="*/ 468985 w 820247"/>
                <a:gd name="csY35" fmla="*/ 176126 h 176753"/>
                <a:gd name="csX36" fmla="*/ 473581 w 820247"/>
                <a:gd name="csY36" fmla="*/ 176752 h 176753"/>
                <a:gd name="csX37" fmla="*/ 478077 w 820247"/>
                <a:gd name="csY37" fmla="*/ 176126 h 176753"/>
                <a:gd name="csX38" fmla="*/ 487072 w 820247"/>
                <a:gd name="csY38" fmla="*/ 169717 h 176753"/>
                <a:gd name="csX39" fmla="*/ 493938 w 820247"/>
                <a:gd name="csY39" fmla="*/ 159015 h 176753"/>
                <a:gd name="csX40" fmla="*/ 508460 w 820247"/>
                <a:gd name="csY40" fmla="*/ 111018 h 176753"/>
                <a:gd name="csX41" fmla="*/ 512177 w 820247"/>
                <a:gd name="csY41" fmla="*/ 88376 h 176753"/>
                <a:gd name="csX42" fmla="*/ 515894 w 820247"/>
                <a:gd name="csY42" fmla="*/ 65734 h 176753"/>
                <a:gd name="csX43" fmla="*/ 530416 w 820247"/>
                <a:gd name="csY43" fmla="*/ 17738 h 176753"/>
                <a:gd name="csX44" fmla="*/ 537282 w 820247"/>
                <a:gd name="csY44" fmla="*/ 7036 h 176753"/>
                <a:gd name="csX45" fmla="*/ 546276 w 820247"/>
                <a:gd name="csY45" fmla="*/ 625 h 176753"/>
                <a:gd name="csX46" fmla="*/ 550871 w 820247"/>
                <a:gd name="csY46" fmla="*/ -1 h 176753"/>
                <a:gd name="csX47" fmla="*/ 555367 w 820247"/>
                <a:gd name="csY47" fmla="*/ 625 h 176753"/>
                <a:gd name="csX48" fmla="*/ 564361 w 820247"/>
                <a:gd name="csY48" fmla="*/ 7034 h 176753"/>
                <a:gd name="csX49" fmla="*/ 571228 w 820247"/>
                <a:gd name="csY49" fmla="*/ 17738 h 176753"/>
                <a:gd name="csX50" fmla="*/ 585750 w 820247"/>
                <a:gd name="csY50" fmla="*/ 65734 h 176753"/>
                <a:gd name="csX51" fmla="*/ 589467 w 820247"/>
                <a:gd name="csY51" fmla="*/ 88376 h 176753"/>
                <a:gd name="csX52" fmla="*/ 593184 w 820247"/>
                <a:gd name="csY52" fmla="*/ 111018 h 176753"/>
                <a:gd name="csX53" fmla="*/ 607706 w 820247"/>
                <a:gd name="csY53" fmla="*/ 159015 h 176753"/>
                <a:gd name="csX54" fmla="*/ 614572 w 820247"/>
                <a:gd name="csY54" fmla="*/ 169717 h 176753"/>
                <a:gd name="csX55" fmla="*/ 623567 w 820247"/>
                <a:gd name="csY55" fmla="*/ 176126 h 176753"/>
                <a:gd name="csX56" fmla="*/ 628162 w 820247"/>
                <a:gd name="csY56" fmla="*/ 176752 h 176753"/>
                <a:gd name="csX57" fmla="*/ 632657 w 820247"/>
                <a:gd name="csY57" fmla="*/ 176126 h 176753"/>
                <a:gd name="csX58" fmla="*/ 641654 w 820247"/>
                <a:gd name="csY58" fmla="*/ 169721 h 176753"/>
                <a:gd name="csX59" fmla="*/ 648517 w 820247"/>
                <a:gd name="csY59" fmla="*/ 159015 h 176753"/>
                <a:gd name="csX60" fmla="*/ 663040 w 820247"/>
                <a:gd name="csY60" fmla="*/ 111018 h 176753"/>
                <a:gd name="csX61" fmla="*/ 666755 w 820247"/>
                <a:gd name="csY61" fmla="*/ 88378 h 176753"/>
                <a:gd name="csX62" fmla="*/ 820246 w 820247"/>
                <a:gd name="csY62" fmla="*/ 88381 h 1767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</a:cxnLst>
              <a:rect l="l" t="t" r="r" b="b"/>
              <a:pathLst>
                <a:path w="820247" h="176753">
                  <a:moveTo>
                    <a:pt x="-1" y="88376"/>
                  </a:moveTo>
                  <a:lnTo>
                    <a:pt x="203012" y="88376"/>
                  </a:lnTo>
                  <a:cubicBezTo>
                    <a:pt x="204081" y="80773"/>
                    <a:pt x="205320" y="73220"/>
                    <a:pt x="206729" y="65734"/>
                  </a:cubicBezTo>
                  <a:cubicBezTo>
                    <a:pt x="209919" y="48784"/>
                    <a:pt x="214075" y="31901"/>
                    <a:pt x="221251" y="17738"/>
                  </a:cubicBezTo>
                  <a:cubicBezTo>
                    <a:pt x="223247" y="13799"/>
                    <a:pt x="225479" y="10078"/>
                    <a:pt x="228115" y="7031"/>
                  </a:cubicBezTo>
                  <a:cubicBezTo>
                    <a:pt x="230752" y="3986"/>
                    <a:pt x="233811" y="1628"/>
                    <a:pt x="237112" y="625"/>
                  </a:cubicBezTo>
                  <a:cubicBezTo>
                    <a:pt x="238620" y="167"/>
                    <a:pt x="240167" y="-6"/>
                    <a:pt x="241707" y="-1"/>
                  </a:cubicBezTo>
                  <a:cubicBezTo>
                    <a:pt x="243216" y="4"/>
                    <a:pt x="244727" y="177"/>
                    <a:pt x="246204" y="625"/>
                  </a:cubicBezTo>
                  <a:cubicBezTo>
                    <a:pt x="249505" y="1626"/>
                    <a:pt x="252564" y="3988"/>
                    <a:pt x="255199" y="7034"/>
                  </a:cubicBezTo>
                  <a:cubicBezTo>
                    <a:pt x="257834" y="10081"/>
                    <a:pt x="260066" y="13804"/>
                    <a:pt x="262064" y="17738"/>
                  </a:cubicBezTo>
                  <a:cubicBezTo>
                    <a:pt x="269255" y="31891"/>
                    <a:pt x="273479" y="48748"/>
                    <a:pt x="276586" y="65734"/>
                  </a:cubicBezTo>
                  <a:cubicBezTo>
                    <a:pt x="277958" y="73234"/>
                    <a:pt x="279132" y="80806"/>
                    <a:pt x="280304" y="88376"/>
                  </a:cubicBezTo>
                  <a:cubicBezTo>
                    <a:pt x="281476" y="95945"/>
                    <a:pt x="282649" y="103519"/>
                    <a:pt x="284021" y="111018"/>
                  </a:cubicBezTo>
                  <a:cubicBezTo>
                    <a:pt x="287128" y="128004"/>
                    <a:pt x="291351" y="144861"/>
                    <a:pt x="298543" y="159015"/>
                  </a:cubicBezTo>
                  <a:cubicBezTo>
                    <a:pt x="300542" y="162947"/>
                    <a:pt x="302774" y="166670"/>
                    <a:pt x="305409" y="169717"/>
                  </a:cubicBezTo>
                  <a:cubicBezTo>
                    <a:pt x="308044" y="172763"/>
                    <a:pt x="311103" y="175125"/>
                    <a:pt x="314404" y="176126"/>
                  </a:cubicBezTo>
                  <a:cubicBezTo>
                    <a:pt x="315912" y="176585"/>
                    <a:pt x="317458" y="176757"/>
                    <a:pt x="318999" y="176752"/>
                  </a:cubicBezTo>
                  <a:cubicBezTo>
                    <a:pt x="320507" y="176747"/>
                    <a:pt x="322019" y="176574"/>
                    <a:pt x="323495" y="176126"/>
                  </a:cubicBezTo>
                  <a:cubicBezTo>
                    <a:pt x="326795" y="175125"/>
                    <a:pt x="329854" y="172765"/>
                    <a:pt x="332489" y="169717"/>
                  </a:cubicBezTo>
                  <a:cubicBezTo>
                    <a:pt x="335126" y="166670"/>
                    <a:pt x="337357" y="162949"/>
                    <a:pt x="339356" y="159015"/>
                  </a:cubicBezTo>
                  <a:cubicBezTo>
                    <a:pt x="346547" y="144861"/>
                    <a:pt x="350771" y="128004"/>
                    <a:pt x="353878" y="111018"/>
                  </a:cubicBezTo>
                  <a:cubicBezTo>
                    <a:pt x="355250" y="103519"/>
                    <a:pt x="356422" y="95945"/>
                    <a:pt x="357595" y="88376"/>
                  </a:cubicBezTo>
                  <a:cubicBezTo>
                    <a:pt x="358767" y="80806"/>
                    <a:pt x="359940" y="73234"/>
                    <a:pt x="361311" y="65734"/>
                  </a:cubicBezTo>
                  <a:cubicBezTo>
                    <a:pt x="364419" y="48748"/>
                    <a:pt x="368642" y="31890"/>
                    <a:pt x="375834" y="17738"/>
                  </a:cubicBezTo>
                  <a:cubicBezTo>
                    <a:pt x="377832" y="13804"/>
                    <a:pt x="380065" y="10083"/>
                    <a:pt x="382700" y="7036"/>
                  </a:cubicBezTo>
                  <a:cubicBezTo>
                    <a:pt x="385336" y="3989"/>
                    <a:pt x="388394" y="1628"/>
                    <a:pt x="391695" y="625"/>
                  </a:cubicBezTo>
                  <a:cubicBezTo>
                    <a:pt x="393204" y="167"/>
                    <a:pt x="394749" y="-6"/>
                    <a:pt x="396291" y="-1"/>
                  </a:cubicBezTo>
                  <a:cubicBezTo>
                    <a:pt x="397799" y="4"/>
                    <a:pt x="399311" y="177"/>
                    <a:pt x="400786" y="625"/>
                  </a:cubicBezTo>
                  <a:cubicBezTo>
                    <a:pt x="404087" y="1626"/>
                    <a:pt x="407146" y="3988"/>
                    <a:pt x="409781" y="7034"/>
                  </a:cubicBezTo>
                  <a:cubicBezTo>
                    <a:pt x="412416" y="10081"/>
                    <a:pt x="414649" y="13804"/>
                    <a:pt x="416647" y="17738"/>
                  </a:cubicBezTo>
                  <a:cubicBezTo>
                    <a:pt x="423838" y="31891"/>
                    <a:pt x="428061" y="48748"/>
                    <a:pt x="431169" y="65734"/>
                  </a:cubicBezTo>
                  <a:cubicBezTo>
                    <a:pt x="432541" y="73234"/>
                    <a:pt x="433713" y="80806"/>
                    <a:pt x="434885" y="88376"/>
                  </a:cubicBezTo>
                  <a:cubicBezTo>
                    <a:pt x="436058" y="95945"/>
                    <a:pt x="437231" y="103519"/>
                    <a:pt x="438602" y="111018"/>
                  </a:cubicBezTo>
                  <a:cubicBezTo>
                    <a:pt x="441709" y="128005"/>
                    <a:pt x="445933" y="144861"/>
                    <a:pt x="453125" y="159015"/>
                  </a:cubicBezTo>
                  <a:cubicBezTo>
                    <a:pt x="455124" y="162947"/>
                    <a:pt x="457355" y="166670"/>
                    <a:pt x="459992" y="169717"/>
                  </a:cubicBezTo>
                  <a:cubicBezTo>
                    <a:pt x="462627" y="172763"/>
                    <a:pt x="465686" y="175125"/>
                    <a:pt x="468985" y="176126"/>
                  </a:cubicBezTo>
                  <a:cubicBezTo>
                    <a:pt x="470495" y="176585"/>
                    <a:pt x="472040" y="176757"/>
                    <a:pt x="473581" y="176752"/>
                  </a:cubicBezTo>
                  <a:cubicBezTo>
                    <a:pt x="475090" y="176747"/>
                    <a:pt x="476601" y="176574"/>
                    <a:pt x="478077" y="176126"/>
                  </a:cubicBezTo>
                  <a:cubicBezTo>
                    <a:pt x="481378" y="175125"/>
                    <a:pt x="484437" y="172765"/>
                    <a:pt x="487072" y="169717"/>
                  </a:cubicBezTo>
                  <a:cubicBezTo>
                    <a:pt x="489707" y="166670"/>
                    <a:pt x="491939" y="162949"/>
                    <a:pt x="493938" y="159015"/>
                  </a:cubicBezTo>
                  <a:cubicBezTo>
                    <a:pt x="501128" y="144861"/>
                    <a:pt x="505353" y="128004"/>
                    <a:pt x="508460" y="111018"/>
                  </a:cubicBezTo>
                  <a:cubicBezTo>
                    <a:pt x="509831" y="103519"/>
                    <a:pt x="511005" y="95945"/>
                    <a:pt x="512177" y="88376"/>
                  </a:cubicBezTo>
                  <a:cubicBezTo>
                    <a:pt x="513349" y="80806"/>
                    <a:pt x="514522" y="73234"/>
                    <a:pt x="515894" y="65734"/>
                  </a:cubicBezTo>
                  <a:cubicBezTo>
                    <a:pt x="519000" y="48748"/>
                    <a:pt x="523224" y="31890"/>
                    <a:pt x="530416" y="17738"/>
                  </a:cubicBezTo>
                  <a:cubicBezTo>
                    <a:pt x="532415" y="13804"/>
                    <a:pt x="534647" y="10083"/>
                    <a:pt x="537282" y="7036"/>
                  </a:cubicBezTo>
                  <a:cubicBezTo>
                    <a:pt x="539917" y="3989"/>
                    <a:pt x="542975" y="1628"/>
                    <a:pt x="546276" y="625"/>
                  </a:cubicBezTo>
                  <a:cubicBezTo>
                    <a:pt x="547784" y="167"/>
                    <a:pt x="549330" y="-6"/>
                    <a:pt x="550871" y="-1"/>
                  </a:cubicBezTo>
                  <a:cubicBezTo>
                    <a:pt x="552379" y="4"/>
                    <a:pt x="553891" y="177"/>
                    <a:pt x="555367" y="625"/>
                  </a:cubicBezTo>
                  <a:cubicBezTo>
                    <a:pt x="558668" y="1626"/>
                    <a:pt x="561726" y="3988"/>
                    <a:pt x="564361" y="7034"/>
                  </a:cubicBezTo>
                  <a:cubicBezTo>
                    <a:pt x="566997" y="10081"/>
                    <a:pt x="569229" y="13804"/>
                    <a:pt x="571228" y="17738"/>
                  </a:cubicBezTo>
                  <a:cubicBezTo>
                    <a:pt x="578418" y="31891"/>
                    <a:pt x="582643" y="48748"/>
                    <a:pt x="585750" y="65734"/>
                  </a:cubicBezTo>
                  <a:cubicBezTo>
                    <a:pt x="587121" y="73234"/>
                    <a:pt x="588293" y="80806"/>
                    <a:pt x="589467" y="88376"/>
                  </a:cubicBezTo>
                  <a:cubicBezTo>
                    <a:pt x="590639" y="95947"/>
                    <a:pt x="591812" y="103519"/>
                    <a:pt x="593184" y="111018"/>
                  </a:cubicBezTo>
                  <a:cubicBezTo>
                    <a:pt x="596292" y="128004"/>
                    <a:pt x="600514" y="144861"/>
                    <a:pt x="607706" y="159015"/>
                  </a:cubicBezTo>
                  <a:cubicBezTo>
                    <a:pt x="609704" y="162947"/>
                    <a:pt x="611937" y="166670"/>
                    <a:pt x="614572" y="169717"/>
                  </a:cubicBezTo>
                  <a:cubicBezTo>
                    <a:pt x="617208" y="172763"/>
                    <a:pt x="620266" y="175125"/>
                    <a:pt x="623567" y="176126"/>
                  </a:cubicBezTo>
                  <a:cubicBezTo>
                    <a:pt x="625075" y="176585"/>
                    <a:pt x="626620" y="176757"/>
                    <a:pt x="628162" y="176752"/>
                  </a:cubicBezTo>
                  <a:cubicBezTo>
                    <a:pt x="629670" y="176747"/>
                    <a:pt x="631182" y="176574"/>
                    <a:pt x="632657" y="176126"/>
                  </a:cubicBezTo>
                  <a:cubicBezTo>
                    <a:pt x="635958" y="175126"/>
                    <a:pt x="639018" y="172768"/>
                    <a:pt x="641654" y="169721"/>
                  </a:cubicBezTo>
                  <a:cubicBezTo>
                    <a:pt x="644291" y="166675"/>
                    <a:pt x="646523" y="162952"/>
                    <a:pt x="648517" y="159015"/>
                  </a:cubicBezTo>
                  <a:cubicBezTo>
                    <a:pt x="655694" y="144850"/>
                    <a:pt x="659850" y="127968"/>
                    <a:pt x="663040" y="111018"/>
                  </a:cubicBezTo>
                  <a:cubicBezTo>
                    <a:pt x="664448" y="103533"/>
                    <a:pt x="665688" y="95981"/>
                    <a:pt x="666755" y="88378"/>
                  </a:cubicBezTo>
                  <a:lnTo>
                    <a:pt x="820246" y="88381"/>
                  </a:lnTo>
                </a:path>
              </a:pathLst>
            </a:custGeom>
            <a:noFill/>
            <a:ln w="21590" cap="flat">
              <a:solidFill>
                <a:srgbClr val="C00000"/>
              </a:solidFill>
              <a:prstDash val="solid"/>
              <a:miter/>
            </a:ln>
          </p:spPr>
        </p: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57FE67C7-32D6-99EE-2EA7-580E3B06D62F}"/>
                </a:ext>
              </a:extLst>
            </p:cNvPr>
            <p:cNvCxnSpPr>
              <a:cxnSpLocks/>
              <a:stCxn id="54" idx="61"/>
            </p:cNvCxnSpPr>
            <p:nvPr/>
          </p:nvCxnSpPr>
          <p:spPr>
            <a:xfrm>
              <a:off x="7887627" y="2221784"/>
              <a:ext cx="230566" cy="158912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文本占位符 56">
            <a:extLst>
              <a:ext uri="{FF2B5EF4-FFF2-40B4-BE49-F238E27FC236}">
                <a16:creationId xmlns:a16="http://schemas.microsoft.com/office/drawing/2014/main" id="{26ED91C9-5454-DD1C-3A28-E6653EFBD7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Part 01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50234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10" grpId="0"/>
      <p:bldP spid="12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内容占位符 1">
            <a:extLst>
              <a:ext uri="{FF2B5EF4-FFF2-40B4-BE49-F238E27FC236}">
                <a16:creationId xmlns:a16="http://schemas.microsoft.com/office/drawing/2014/main" id="{38689460-8EF1-03A6-35D5-C22B12FCD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377" y="1152939"/>
            <a:ext cx="10521387" cy="4843669"/>
          </a:xfrm>
        </p:spPr>
        <p:txBody>
          <a:bodyPr/>
          <a:lstStyle/>
          <a:p>
            <a:r>
              <a:rPr lang="en-US" altLang="zh-CN" dirty="0"/>
              <a:t>Hermitian lattices: Bloch band theory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Non-Hermitian lattices</a:t>
            </a:r>
            <a:r>
              <a:rPr lang="zh-CN" altLang="en-US" dirty="0"/>
              <a:t>：</a:t>
            </a:r>
            <a:r>
              <a:rPr lang="en-US" altLang="zh-CN" dirty="0">
                <a:solidFill>
                  <a:srgbClr val="C00000"/>
                </a:solidFill>
              </a:rPr>
              <a:t>NHSE</a:t>
            </a:r>
          </a:p>
          <a:p>
            <a:endParaRPr lang="zh-CN" altLang="en-US" dirty="0"/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03DC163C-B93D-0953-205F-DF52A4B15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50" y="1739339"/>
            <a:ext cx="1921764" cy="396240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44C903BA-0187-9715-1879-1BB715E97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Non-Hermitian skin effect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D6222BE-287B-B1D1-DA22-87F028C1DF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Part 01</a:t>
            </a:r>
            <a:endParaRPr lang="zh-CN" altLang="en-US" dirty="0"/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7404FA99-DFF9-FEFF-3793-804C941F5DEE}"/>
              </a:ext>
            </a:extLst>
          </p:cNvPr>
          <p:cNvSpPr/>
          <p:nvPr/>
        </p:nvSpPr>
        <p:spPr>
          <a:xfrm>
            <a:off x="4944533" y="1736197"/>
            <a:ext cx="1363134" cy="329671"/>
          </a:xfrm>
          <a:prstGeom prst="rightArrow">
            <a:avLst>
              <a:gd name="adj1" fmla="val 50000"/>
              <a:gd name="adj2" fmla="val 11420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CA9397F-7B54-FCCB-62DB-D51FF84B07D7}"/>
              </a:ext>
            </a:extLst>
          </p:cNvPr>
          <p:cNvSpPr txBox="1"/>
          <p:nvPr/>
        </p:nvSpPr>
        <p:spPr>
          <a:xfrm>
            <a:off x="7489120" y="1307525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</a:rPr>
              <a:t>Bloch states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EC0859A-174D-8C39-8771-B1117391B272}"/>
              </a:ext>
            </a:extLst>
          </p:cNvPr>
          <p:cNvSpPr txBox="1"/>
          <p:nvPr/>
        </p:nvSpPr>
        <p:spPr>
          <a:xfrm>
            <a:off x="9449524" y="1307525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Energy bands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FF285FD-3F0D-8006-7083-C5B4084378AA}"/>
              </a:ext>
            </a:extLst>
          </p:cNvPr>
          <p:cNvSpPr txBox="1"/>
          <p:nvPr/>
        </p:nvSpPr>
        <p:spPr>
          <a:xfrm>
            <a:off x="5886251" y="5998972"/>
            <a:ext cx="62634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effectLst/>
              </a:rPr>
              <a:t>Yao, S. &amp; Wang, Z. </a:t>
            </a:r>
            <a:r>
              <a:rPr lang="en-US" altLang="zh-CN" i="1" dirty="0">
                <a:effectLst/>
              </a:rPr>
              <a:t>Phys. Rev. Lett.</a:t>
            </a:r>
            <a:r>
              <a:rPr lang="en-US" altLang="zh-CN" dirty="0">
                <a:effectLst/>
              </a:rPr>
              <a:t> </a:t>
            </a:r>
            <a:r>
              <a:rPr lang="en-US" altLang="zh-CN" b="1" dirty="0">
                <a:effectLst/>
              </a:rPr>
              <a:t>121</a:t>
            </a:r>
            <a:r>
              <a:rPr lang="en-US" altLang="zh-CN" dirty="0">
                <a:effectLst/>
              </a:rPr>
              <a:t>, 086803 (2018).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500A4BE-C933-D4BC-9393-7526743B9D56}"/>
              </a:ext>
            </a:extLst>
          </p:cNvPr>
          <p:cNvSpPr txBox="1"/>
          <p:nvPr/>
        </p:nvSpPr>
        <p:spPr>
          <a:xfrm>
            <a:off x="925485" y="5996608"/>
            <a:ext cx="4974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effectLst/>
              </a:rPr>
              <a:t>Lee, T. E. </a:t>
            </a:r>
            <a:r>
              <a:rPr lang="en-US" altLang="zh-CN" i="1" dirty="0">
                <a:effectLst/>
              </a:rPr>
              <a:t>Phys. Rev. Lett.</a:t>
            </a:r>
            <a:r>
              <a:rPr lang="en-US" altLang="zh-CN" dirty="0">
                <a:effectLst/>
              </a:rPr>
              <a:t> </a:t>
            </a:r>
            <a:r>
              <a:rPr lang="en-US" altLang="zh-CN" b="1" dirty="0">
                <a:effectLst/>
              </a:rPr>
              <a:t>116</a:t>
            </a:r>
            <a:r>
              <a:rPr lang="en-US" altLang="zh-CN" dirty="0">
                <a:effectLst/>
              </a:rPr>
              <a:t>, 133903 (2016).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CCDCA9B6-2EE0-3CF1-C075-9B926B73E2DB}"/>
                  </a:ext>
                </a:extLst>
              </p:cNvPr>
              <p:cNvSpPr txBox="1"/>
              <p:nvPr/>
            </p:nvSpPr>
            <p:spPr>
              <a:xfrm>
                <a:off x="4913228" y="2996011"/>
                <a:ext cx="313250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solidFill>
                      <a:schemeClr val="accent1"/>
                    </a:solidFill>
                  </a:rPr>
                  <a:t>PBC bands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zh-CN" altLang="en-US" sz="2000" dirty="0">
                    <a:solidFill>
                      <a:schemeClr val="accent1"/>
                    </a:solidFill>
                  </a:rPr>
                  <a:t> </a:t>
                </a:r>
                <a:r>
                  <a:rPr lang="en-US" altLang="zh-CN" sz="2000" dirty="0">
                    <a:solidFill>
                      <a:schemeClr val="accent1"/>
                    </a:solidFill>
                  </a:rPr>
                  <a:t>OBC bands</a:t>
                </a:r>
                <a:endParaRPr lang="zh-CN" altLang="en-US" sz="2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CCDCA9B6-2EE0-3CF1-C075-9B926B73E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3228" y="2996011"/>
                <a:ext cx="3132503" cy="400110"/>
              </a:xfrm>
              <a:prstGeom prst="rect">
                <a:avLst/>
              </a:prstGeom>
              <a:blipFill>
                <a:blip r:embed="rId3"/>
                <a:stretch>
                  <a:fillRect l="-2140" t="-6061" r="-973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46DC2540-1B73-31D4-07C0-F90A0D192B1E}"/>
              </a:ext>
            </a:extLst>
          </p:cNvPr>
          <p:cNvSpPr txBox="1"/>
          <p:nvPr/>
        </p:nvSpPr>
        <p:spPr>
          <a:xfrm>
            <a:off x="1252378" y="2996011"/>
            <a:ext cx="3311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accent1"/>
                </a:solidFill>
              </a:rPr>
              <a:t>Edge localization of states</a:t>
            </a:r>
            <a:endParaRPr lang="zh-CN" altLang="en-US" sz="2000" dirty="0">
              <a:solidFill>
                <a:schemeClr val="accent1"/>
              </a:solidFill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C21DBE94-42EB-A978-3DF6-DE10C420D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085" y="3464860"/>
            <a:ext cx="3198186" cy="2386393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EB204C5F-46B9-8755-13EB-19919906E06F}"/>
              </a:ext>
            </a:extLst>
          </p:cNvPr>
          <p:cNvSpPr txBox="1"/>
          <p:nvPr/>
        </p:nvSpPr>
        <p:spPr>
          <a:xfrm>
            <a:off x="8726940" y="2721113"/>
            <a:ext cx="29769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accent1"/>
                </a:solidFill>
              </a:rPr>
              <a:t>Breakdown of bulk-edge correspondence</a:t>
            </a:r>
            <a:endParaRPr lang="zh-CN" altLang="en-US" sz="2000" dirty="0">
              <a:solidFill>
                <a:schemeClr val="accent1"/>
              </a:solidFill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DF0927F7-E242-2AC1-FBD8-B86EFFD112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780" y="3511563"/>
            <a:ext cx="3080873" cy="2292989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D9C193E2-8616-51B7-8499-F4E7C48F57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7681" y="3428999"/>
            <a:ext cx="2556234" cy="2600871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F6948E1E-F167-ADA9-0DD8-A8EBAFB4D7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1156" y="1702912"/>
            <a:ext cx="3858768" cy="39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270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0AABD-621B-16D2-E4C9-0BFEB9F82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1333EB0-19D0-9BB3-67A7-6D0D8B455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1D GBZ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83A282-E863-C789-2AE8-B5DF9B1003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Part 01</a:t>
            </a:r>
            <a:endParaRPr lang="zh-CN" altLang="en-US" dirty="0"/>
          </a:p>
        </p:txBody>
      </p:sp>
      <p:pic>
        <p:nvPicPr>
          <p:cNvPr id="5" name="图片 4" descr="图表&#10;&#10;AI 生成的内容可能不正确。">
            <a:extLst>
              <a:ext uri="{FF2B5EF4-FFF2-40B4-BE49-F238E27FC236}">
                <a16:creationId xmlns:a16="http://schemas.microsoft.com/office/drawing/2014/main" id="{CA8E0B73-E648-C9DE-A71E-846A99CDD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865" y="1381763"/>
            <a:ext cx="4028929" cy="1822718"/>
          </a:xfrm>
          <a:prstGeom prst="rect">
            <a:avLst/>
          </a:prstGeom>
        </p:spPr>
      </p:pic>
      <p:pic>
        <p:nvPicPr>
          <p:cNvPr id="6" name="图片 5" descr="图表, 气泡图&#10;&#10;AI 生成的内容可能不正确。">
            <a:extLst>
              <a:ext uri="{FF2B5EF4-FFF2-40B4-BE49-F238E27FC236}">
                <a16:creationId xmlns:a16="http://schemas.microsoft.com/office/drawing/2014/main" id="{DE89778F-21EA-EF7F-A876-8201EE3BD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789" y="1760744"/>
            <a:ext cx="3965766" cy="144373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14FD583-55F3-0D2C-DDB1-BC92B963E195}"/>
              </a:ext>
            </a:extLst>
          </p:cNvPr>
          <p:cNvSpPr txBox="1"/>
          <p:nvPr/>
        </p:nvSpPr>
        <p:spPr>
          <a:xfrm>
            <a:off x="1990290" y="1001660"/>
            <a:ext cx="15808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5C307D"/>
                </a:solidFill>
              </a:rPr>
              <a:t>Bloch states</a:t>
            </a:r>
            <a:endParaRPr lang="zh-CN" altLang="en-US" sz="2000" dirty="0">
              <a:solidFill>
                <a:srgbClr val="5C307D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608B4F5-B358-A5D7-030B-B1224AAFD366}"/>
              </a:ext>
            </a:extLst>
          </p:cNvPr>
          <p:cNvSpPr txBox="1"/>
          <p:nvPr/>
        </p:nvSpPr>
        <p:spPr>
          <a:xfrm>
            <a:off x="8432519" y="999060"/>
            <a:ext cx="21371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5C307D"/>
                </a:solidFill>
              </a:rPr>
              <a:t>Non-Bloch states</a:t>
            </a:r>
            <a:endParaRPr lang="zh-CN" altLang="en-US" sz="2000" dirty="0">
              <a:solidFill>
                <a:srgbClr val="5C307D"/>
              </a:solidFill>
            </a:endParaRP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81E751C0-7306-DE74-54F5-264E35BE75F9}"/>
              </a:ext>
            </a:extLst>
          </p:cNvPr>
          <p:cNvSpPr/>
          <p:nvPr/>
        </p:nvSpPr>
        <p:spPr>
          <a:xfrm>
            <a:off x="5178210" y="2293122"/>
            <a:ext cx="1566333" cy="321733"/>
          </a:xfrm>
          <a:prstGeom prst="rightArrow">
            <a:avLst>
              <a:gd name="adj1" fmla="val 50000"/>
              <a:gd name="adj2" fmla="val 10526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31B8A25-BC95-F45B-8E0E-9DBD790BEE23}"/>
              </a:ext>
            </a:extLst>
          </p:cNvPr>
          <p:cNvSpPr/>
          <p:nvPr/>
        </p:nvSpPr>
        <p:spPr>
          <a:xfrm>
            <a:off x="1990290" y="3944499"/>
            <a:ext cx="1332622" cy="1330696"/>
          </a:xfrm>
          <a:prstGeom prst="rect">
            <a:avLst/>
          </a:prstGeom>
          <a:solidFill>
            <a:srgbClr val="EAC3B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pic>
        <p:nvPicPr>
          <p:cNvPr id="15" name="图片 14" descr="图片包含 徽标&#10;&#10;AI 生成的内容可能不正确。">
            <a:extLst>
              <a:ext uri="{FF2B5EF4-FFF2-40B4-BE49-F238E27FC236}">
                <a16:creationId xmlns:a16="http://schemas.microsoft.com/office/drawing/2014/main" id="{A11CF534-AAC3-C681-AA7B-D29C5FC6E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364763" y="4450104"/>
            <a:ext cx="704428" cy="319486"/>
          </a:xfrm>
          <a:prstGeom prst="rect">
            <a:avLst/>
          </a:prstGeom>
        </p:spPr>
      </p:pic>
      <p:sp>
        <p:nvSpPr>
          <p:cNvPr id="16" name="箭头: 右 15">
            <a:extLst>
              <a:ext uri="{FF2B5EF4-FFF2-40B4-BE49-F238E27FC236}">
                <a16:creationId xmlns:a16="http://schemas.microsoft.com/office/drawing/2014/main" id="{5602E4CA-43E8-1C9A-1D82-EB6893768354}"/>
              </a:ext>
            </a:extLst>
          </p:cNvPr>
          <p:cNvSpPr/>
          <p:nvPr/>
        </p:nvSpPr>
        <p:spPr>
          <a:xfrm>
            <a:off x="4328552" y="4887009"/>
            <a:ext cx="3481100" cy="321733"/>
          </a:xfrm>
          <a:prstGeom prst="rightArrow">
            <a:avLst>
              <a:gd name="adj1" fmla="val 50000"/>
              <a:gd name="adj2" fmla="val 10526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B6B5ADAB-2426-66E0-2D9E-B2F8D07E27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8552" y="3753914"/>
            <a:ext cx="3219154" cy="11330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CF646A6-7ABB-80CE-6F26-0EB3D535FC91}"/>
                  </a:ext>
                </a:extLst>
              </p:cNvPr>
              <p:cNvSpPr txBox="1"/>
              <p:nvPr/>
            </p:nvSpPr>
            <p:spPr>
              <a:xfrm>
                <a:off x="5061129" y="5193261"/>
                <a:ext cx="18828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Constraints on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CF646A6-7ABB-80CE-6F26-0EB3D535F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1129" y="5193261"/>
                <a:ext cx="1882823" cy="369332"/>
              </a:xfrm>
              <a:prstGeom prst="rect">
                <a:avLst/>
              </a:prstGeom>
              <a:blipFill>
                <a:blip r:embed="rId6"/>
                <a:stretch>
                  <a:fillRect l="-2589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>
            <a:extLst>
              <a:ext uri="{FF2B5EF4-FFF2-40B4-BE49-F238E27FC236}">
                <a16:creationId xmlns:a16="http://schemas.microsoft.com/office/drawing/2014/main" id="{63FF5AEF-03C7-6087-93B8-1BC70EFE357C}"/>
              </a:ext>
            </a:extLst>
          </p:cNvPr>
          <p:cNvSpPr txBox="1"/>
          <p:nvPr/>
        </p:nvSpPr>
        <p:spPr>
          <a:xfrm>
            <a:off x="3219132" y="579301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effectLst/>
              </a:rPr>
              <a:t>Yao, S. &amp; Wang, Z. </a:t>
            </a:r>
            <a:r>
              <a:rPr lang="en-US" altLang="zh-CN" sz="1600" i="1" dirty="0">
                <a:effectLst/>
              </a:rPr>
              <a:t>Phys. Rev. Lett.</a:t>
            </a:r>
            <a:r>
              <a:rPr lang="en-US" altLang="zh-CN" sz="1600" dirty="0">
                <a:effectLst/>
              </a:rPr>
              <a:t> </a:t>
            </a:r>
            <a:r>
              <a:rPr lang="en-US" altLang="zh-CN" sz="1600" b="1" dirty="0">
                <a:effectLst/>
              </a:rPr>
              <a:t>121</a:t>
            </a:r>
            <a:r>
              <a:rPr lang="en-US" altLang="zh-CN" sz="1600" dirty="0">
                <a:effectLst/>
              </a:rPr>
              <a:t>, 086803 (2018).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17EA7D7-7DDB-679E-21A3-7224A8C56590}"/>
              </a:ext>
            </a:extLst>
          </p:cNvPr>
          <p:cNvSpPr txBox="1"/>
          <p:nvPr/>
        </p:nvSpPr>
        <p:spPr>
          <a:xfrm>
            <a:off x="2318463" y="6076963"/>
            <a:ext cx="71442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 err="1">
                <a:effectLst/>
              </a:rPr>
              <a:t>Yokomizo</a:t>
            </a:r>
            <a:r>
              <a:rPr lang="en-US" altLang="zh-CN" sz="1600" dirty="0">
                <a:effectLst/>
              </a:rPr>
              <a:t>, K. &amp; Murakami, S. </a:t>
            </a:r>
            <a:r>
              <a:rPr lang="en-US" altLang="zh-CN" sz="1600" i="1" dirty="0">
                <a:effectLst/>
              </a:rPr>
              <a:t>Phys. Rev. Lett.</a:t>
            </a:r>
            <a:r>
              <a:rPr lang="en-US" altLang="zh-CN" sz="1600" dirty="0">
                <a:effectLst/>
              </a:rPr>
              <a:t> </a:t>
            </a:r>
            <a:r>
              <a:rPr lang="en-US" altLang="zh-CN" sz="1600" b="1" dirty="0">
                <a:effectLst/>
              </a:rPr>
              <a:t>123</a:t>
            </a:r>
            <a:r>
              <a:rPr lang="en-US" altLang="zh-CN" sz="1600" dirty="0">
                <a:effectLst/>
              </a:rPr>
              <a:t>, 066404 (2019).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42F81241-F5EA-A0DD-452A-F62DD3EFC3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4148" y="3815874"/>
            <a:ext cx="2255495" cy="2014858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6F49F4D6-DEA2-4527-6A6D-0FA22B4CB30E}"/>
              </a:ext>
            </a:extLst>
          </p:cNvPr>
          <p:cNvSpPr txBox="1"/>
          <p:nvPr/>
        </p:nvSpPr>
        <p:spPr>
          <a:xfrm>
            <a:off x="1661674" y="3421274"/>
            <a:ext cx="22381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5C307D"/>
                </a:solidFill>
              </a:rPr>
              <a:t>2D complex plane</a:t>
            </a:r>
            <a:endParaRPr lang="zh-CN" altLang="en-US" sz="2000" dirty="0">
              <a:solidFill>
                <a:srgbClr val="5C307D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D917D27-7598-C9ED-6866-BECAB11F39C9}"/>
              </a:ext>
            </a:extLst>
          </p:cNvPr>
          <p:cNvSpPr txBox="1"/>
          <p:nvPr/>
        </p:nvSpPr>
        <p:spPr>
          <a:xfrm>
            <a:off x="7665177" y="3420272"/>
            <a:ext cx="39485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5C307D"/>
                </a:solidFill>
              </a:rPr>
              <a:t>Generalized Brillouin zone (GBZ)</a:t>
            </a:r>
            <a:endParaRPr lang="zh-CN" altLang="en-US" sz="2000" dirty="0">
              <a:solidFill>
                <a:srgbClr val="5C307D"/>
              </a:solidFill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2B953AB1-25D0-B9A8-CC60-4D980E357C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1920" y="1465081"/>
            <a:ext cx="2127504" cy="397764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8E301171-A28B-0EF8-A6DF-3BC0901E6A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51790" y="1803174"/>
            <a:ext cx="2007108" cy="397764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826C6DB1-C956-396A-EFE1-B0D075441D0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64521" y="1878395"/>
            <a:ext cx="1347216" cy="400812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18B39F86-8809-52A7-32AA-D40B1D63538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36307" y="4421984"/>
            <a:ext cx="694944" cy="402336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2FB94DC1-5F7F-330E-4E23-CB44DAB1DB4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79919" y="5335983"/>
            <a:ext cx="751332" cy="39624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5E68134-9F84-3142-9315-46BFA9ABB22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30799" y="3405967"/>
            <a:ext cx="2667000" cy="45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596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3" grpId="0" animBg="1"/>
      <p:bldP spid="16" grpId="0" animBg="1"/>
      <p:bldP spid="18" grpId="0"/>
      <p:bldP spid="23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2272573-C65C-E907-D6C5-27664C5CE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Successful in describing 1D NHSE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43F1D18-EE8F-BD70-567C-C5D036759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1D non-Bloch band theory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B193DC-D352-8C7A-BD87-454742568A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Part 01</a:t>
            </a:r>
            <a:endParaRPr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F2AE0E6-EC06-A5D1-57F3-EE4F8506E214}"/>
              </a:ext>
            </a:extLst>
          </p:cNvPr>
          <p:cNvGrpSpPr/>
          <p:nvPr/>
        </p:nvGrpSpPr>
        <p:grpSpPr>
          <a:xfrm>
            <a:off x="5570961" y="1994371"/>
            <a:ext cx="5248776" cy="4007420"/>
            <a:chOff x="6365884" y="2354567"/>
            <a:chExt cx="5248776" cy="4007420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598111CB-C2B2-8C1C-66DD-BA15632D69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65884" y="2354567"/>
              <a:ext cx="5248776" cy="4007420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59F90B4-BF81-D731-D0F5-E21AA03F9C9A}"/>
                </a:ext>
              </a:extLst>
            </p:cNvPr>
            <p:cNvSpPr/>
            <p:nvPr/>
          </p:nvSpPr>
          <p:spPr>
            <a:xfrm>
              <a:off x="6365884" y="2354567"/>
              <a:ext cx="429552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D5CB21E-E7CF-700F-19AC-C236FAB2358D}"/>
                </a:ext>
              </a:extLst>
            </p:cNvPr>
            <p:cNvSpPr/>
            <p:nvPr/>
          </p:nvSpPr>
          <p:spPr>
            <a:xfrm>
              <a:off x="8075130" y="2753744"/>
              <a:ext cx="2974671" cy="22910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5B8EDA93-B822-6489-EB85-61287599E2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56069" y="2816232"/>
              <a:ext cx="2176839" cy="2291009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CD46EC2-3115-E897-661D-1143AB03A3AE}"/>
                </a:ext>
              </a:extLst>
            </p:cNvPr>
            <p:cNvSpPr/>
            <p:nvPr/>
          </p:nvSpPr>
          <p:spPr>
            <a:xfrm>
              <a:off x="8789855" y="2901402"/>
              <a:ext cx="728539" cy="36644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B93F9BBA-9C40-CD80-5B0C-BA0925402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3832" y="2177251"/>
            <a:ext cx="2656184" cy="194859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5BFF0B2-CE63-5808-45D2-0F579D3D7C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8955" y="4125845"/>
            <a:ext cx="2645298" cy="193770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8AEF4F28-F864-B80E-F458-9D68B227359B}"/>
              </a:ext>
            </a:extLst>
          </p:cNvPr>
          <p:cNvSpPr txBox="1"/>
          <p:nvPr/>
        </p:nvSpPr>
        <p:spPr>
          <a:xfrm>
            <a:off x="2148955" y="1715586"/>
            <a:ext cx="28200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sz="2000" dirty="0">
                <a:solidFill>
                  <a:schemeClr val="accent1"/>
                </a:solidFill>
              </a:rPr>
              <a:t>Spectrum and topology</a:t>
            </a:r>
            <a:endParaRPr lang="zh-CN" altLang="en-US" sz="2000" dirty="0">
              <a:solidFill>
                <a:schemeClr val="accent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654CD54-5EF4-6071-838D-8915B15F05EE}"/>
              </a:ext>
            </a:extLst>
          </p:cNvPr>
          <p:cNvSpPr txBox="1"/>
          <p:nvPr/>
        </p:nvSpPr>
        <p:spPr>
          <a:xfrm>
            <a:off x="6806961" y="1715586"/>
            <a:ext cx="3206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sz="2000" dirty="0">
                <a:solidFill>
                  <a:schemeClr val="accent1"/>
                </a:solidFill>
              </a:rPr>
              <a:t>Localization of eigenstates</a:t>
            </a:r>
            <a:endParaRPr lang="zh-CN" altLang="en-US" sz="2000" dirty="0">
              <a:solidFill>
                <a:schemeClr val="accent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65E5A63-7D1F-42F2-C860-830B5D8B0DAD}"/>
              </a:ext>
            </a:extLst>
          </p:cNvPr>
          <p:cNvSpPr txBox="1"/>
          <p:nvPr/>
        </p:nvSpPr>
        <p:spPr>
          <a:xfrm>
            <a:off x="750324" y="2740962"/>
            <a:ext cx="8162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/>
              <a:t>GBZ</a:t>
            </a:r>
            <a:endParaRPr lang="zh-CN" altLang="en-US" sz="2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99C931F-BD58-55B5-A9A8-6BEE1A7A98D1}"/>
              </a:ext>
            </a:extLst>
          </p:cNvPr>
          <p:cNvSpPr txBox="1"/>
          <p:nvPr/>
        </p:nvSpPr>
        <p:spPr>
          <a:xfrm>
            <a:off x="750324" y="4695667"/>
            <a:ext cx="851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OBC</a:t>
            </a:r>
            <a:endParaRPr lang="zh-CN" altLang="en-US" sz="2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2A5F135-C61A-7698-2378-B850636B5CF5}"/>
              </a:ext>
            </a:extLst>
          </p:cNvPr>
          <p:cNvSpPr txBox="1"/>
          <p:nvPr/>
        </p:nvSpPr>
        <p:spPr>
          <a:xfrm>
            <a:off x="2715852" y="603163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effectLst/>
              </a:rPr>
              <a:t>Yao, S. &amp; Wang, Z. </a:t>
            </a:r>
            <a:r>
              <a:rPr lang="en-US" altLang="zh-CN" i="1" dirty="0">
                <a:effectLst/>
              </a:rPr>
              <a:t>Phys. Rev. Lett.</a:t>
            </a:r>
            <a:r>
              <a:rPr lang="en-US" altLang="zh-CN" dirty="0">
                <a:effectLst/>
              </a:rPr>
              <a:t> </a:t>
            </a:r>
            <a:r>
              <a:rPr lang="en-US" altLang="zh-CN" b="1" dirty="0">
                <a:effectLst/>
              </a:rPr>
              <a:t>121</a:t>
            </a:r>
            <a:r>
              <a:rPr lang="en-US" altLang="zh-CN" dirty="0">
                <a:effectLst/>
              </a:rPr>
              <a:t>, 086803 (2018).</a:t>
            </a:r>
          </a:p>
        </p:txBody>
      </p:sp>
    </p:spTree>
    <p:extLst>
      <p:ext uri="{BB962C8B-B14F-4D97-AF65-F5344CB8AC3E}">
        <p14:creationId xmlns:p14="http://schemas.microsoft.com/office/powerpoint/2010/main" val="846685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2E81301-5C12-E241-F2C4-0EB933177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Amoeba formulation</a:t>
            </a:r>
            <a:r>
              <a:rPr lang="zh-CN" altLang="en-US" dirty="0"/>
              <a:t>：                     </a:t>
            </a:r>
            <a:r>
              <a:rPr lang="en-US" altLang="zh-CN" dirty="0"/>
              <a:t>Geometry-independent GBZ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Strip-GBZ (SGBZ) formulation</a:t>
            </a:r>
            <a:r>
              <a:rPr lang="zh-CN" altLang="en-US" dirty="0"/>
              <a:t>：                     </a:t>
            </a:r>
            <a:r>
              <a:rPr lang="en-US" altLang="zh-CN" dirty="0"/>
              <a:t>OBC spectrum of a strip geometry with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8BFFA34-5957-9403-94B5-EC9AF3F5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Non-Bloch band theory for 2D lattices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D596BA-EE49-32A3-134E-69DE07DF96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Part 01</a:t>
            </a:r>
            <a:endParaRPr lang="zh-CN" altLang="en-US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8358864-15F3-196F-9AE0-3A2003E5FF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7165553"/>
              </p:ext>
            </p:extLst>
          </p:nvPr>
        </p:nvGraphicFramePr>
        <p:xfrm>
          <a:off x="3690705" y="1185863"/>
          <a:ext cx="1492250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" imgW="1492200" imgH="398160" progId="Equation.AxMath">
                  <p:embed/>
                </p:oleObj>
              </mc:Choice>
              <mc:Fallback>
                <p:oleObj name="AxMath" r:id="rId2" imgW="1492200" imgH="398160" progId="Equation.AxMath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28358864-15F3-196F-9AE0-3A2003E5FF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690705" y="1185863"/>
                        <a:ext cx="1492250" cy="398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2139DB50-79B9-CF3F-83A4-9CDEA397AA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8259" y="1617249"/>
            <a:ext cx="5959062" cy="2004920"/>
          </a:xfrm>
          <a:prstGeom prst="rect">
            <a:avLst/>
          </a:prstGeom>
        </p:spPr>
      </p:pic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D7E2BCD-A109-27A0-8BB4-F9B618B17C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5086552"/>
              </p:ext>
            </p:extLst>
          </p:nvPr>
        </p:nvGraphicFramePr>
        <p:xfrm>
          <a:off x="4880943" y="3936172"/>
          <a:ext cx="1492250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5" imgW="1492200" imgH="398160" progId="Equation.AxMath">
                  <p:embed/>
                </p:oleObj>
              </mc:Choice>
              <mc:Fallback>
                <p:oleObj name="AxMath" r:id="rId5" imgW="1492200" imgH="398160" progId="Equation.AxMath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4D7E2BCD-A109-27A0-8BB4-F9B618B17C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880943" y="3936172"/>
                        <a:ext cx="1492250" cy="398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9FA2C8B6-51A5-FC08-81A8-BF8CB61D1E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5161970"/>
              </p:ext>
            </p:extLst>
          </p:nvPr>
        </p:nvGraphicFramePr>
        <p:xfrm>
          <a:off x="10748995" y="3953634"/>
          <a:ext cx="8699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6" imgW="869760" imgH="381240" progId="Equation.AxMath">
                  <p:embed/>
                </p:oleObj>
              </mc:Choice>
              <mc:Fallback>
                <p:oleObj name="AxMath" r:id="rId6" imgW="869760" imgH="381240" progId="Equation.AxMath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9FA2C8B6-51A5-FC08-81A8-BF8CB61D1E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748995" y="3953634"/>
                        <a:ext cx="86995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2418A3F1-5C54-D63E-A95C-8C747B9B6520}"/>
              </a:ext>
            </a:extLst>
          </p:cNvPr>
          <p:cNvSpPr txBox="1"/>
          <p:nvPr/>
        </p:nvSpPr>
        <p:spPr>
          <a:xfrm>
            <a:off x="8246923" y="2279925"/>
            <a:ext cx="36362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1600" dirty="0">
                <a:effectLst/>
              </a:rPr>
              <a:t>Wang, H.-Y., Song, F. &amp; Wang, Z. </a:t>
            </a:r>
            <a:br>
              <a:rPr lang="en-US" altLang="zh-CN" sz="1600" dirty="0">
                <a:effectLst/>
              </a:rPr>
            </a:br>
            <a:r>
              <a:rPr lang="zh-CN" altLang="zh-CN" sz="1600" i="1" dirty="0">
                <a:effectLst/>
              </a:rPr>
              <a:t>Phys. Rev. X</a:t>
            </a:r>
            <a:r>
              <a:rPr lang="zh-CN" altLang="zh-CN" sz="1600" dirty="0">
                <a:effectLst/>
              </a:rPr>
              <a:t> </a:t>
            </a:r>
            <a:r>
              <a:rPr lang="zh-CN" altLang="zh-CN" sz="1600" b="1" dirty="0">
                <a:effectLst/>
              </a:rPr>
              <a:t>14</a:t>
            </a:r>
            <a:r>
              <a:rPr lang="zh-CN" altLang="zh-CN" sz="1600" dirty="0">
                <a:effectLst/>
              </a:rPr>
              <a:t>, 021011 (2024).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A3E9761-EEA7-7A6E-5810-2916C0E65D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56686" y="4442981"/>
            <a:ext cx="2653244" cy="186351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EF1C9A2-AB02-5796-7418-5655BFEF02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4217" y="4442981"/>
            <a:ext cx="1981790" cy="1941703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9C0BE5C9-3168-10DC-3789-74AD44F33EA7}"/>
              </a:ext>
            </a:extLst>
          </p:cNvPr>
          <p:cNvSpPr txBox="1"/>
          <p:nvPr/>
        </p:nvSpPr>
        <p:spPr>
          <a:xfrm>
            <a:off x="8246923" y="4544139"/>
            <a:ext cx="35184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1600" dirty="0">
                <a:effectLst/>
              </a:rPr>
              <a:t>Xiong, Y., Xing, Z.-Y. &amp; Hu, H. </a:t>
            </a:r>
            <a:br>
              <a:rPr lang="en-US" altLang="zh-CN" sz="1600" dirty="0">
                <a:effectLst/>
              </a:rPr>
            </a:br>
            <a:r>
              <a:rPr lang="en-US" altLang="zh-CN" sz="1600" i="1" dirty="0" err="1">
                <a:effectLst/>
              </a:rPr>
              <a:t>arXiv</a:t>
            </a:r>
            <a:r>
              <a:rPr lang="en-US" altLang="zh-CN" sz="1600" dirty="0">
                <a:effectLst/>
              </a:rPr>
              <a:t>. 2407.01296 (2024)</a:t>
            </a:r>
            <a:endParaRPr lang="zh-CN" altLang="zh-CN" sz="1600" dirty="0">
              <a:effectLst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E7C14D0-8C7D-BB33-0399-8A364D3F02D8}"/>
              </a:ext>
            </a:extLst>
          </p:cNvPr>
          <p:cNvSpPr txBox="1"/>
          <p:nvPr/>
        </p:nvSpPr>
        <p:spPr>
          <a:xfrm>
            <a:off x="8246922" y="5366753"/>
            <a:ext cx="35184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600" dirty="0">
                <a:effectLst/>
              </a:rPr>
              <a:t>Wang, C., et al. </a:t>
            </a:r>
            <a:br>
              <a:rPr lang="en-US" altLang="zh-CN" sz="1600" dirty="0">
                <a:effectLst/>
              </a:rPr>
            </a:br>
            <a:r>
              <a:rPr lang="en-US" altLang="zh-CN" sz="1600" i="1" dirty="0" err="1">
                <a:effectLst/>
              </a:rPr>
              <a:t>arXiv</a:t>
            </a:r>
            <a:r>
              <a:rPr lang="en-US" altLang="zh-CN" sz="1600" dirty="0"/>
              <a:t>. 2506.22743 (2025</a:t>
            </a:r>
            <a:r>
              <a:rPr lang="en-US" altLang="zh-CN" sz="1600" dirty="0">
                <a:effectLst/>
              </a:rPr>
              <a:t>).</a:t>
            </a:r>
            <a:endParaRPr lang="zh-CN" altLang="zh-CN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64254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4504A-A01B-B8CE-2E5D-D13DE8B04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E1ED39-C94F-8A16-80B4-E310739FA2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47385" y="2511839"/>
            <a:ext cx="10068754" cy="2432050"/>
          </a:xfrm>
        </p:spPr>
        <p:txBody>
          <a:bodyPr/>
          <a:lstStyle/>
          <a:p>
            <a:r>
              <a:rPr lang="en-US" altLang="zh-CN" dirty="0"/>
              <a:t>Non-Bloch band theory and generalized Brillouin zone (GBZ) </a:t>
            </a:r>
          </a:p>
          <a:p>
            <a:r>
              <a:rPr lang="en-US" altLang="zh-CN" dirty="0"/>
              <a:t>Reducing GBZ computation to root solving</a:t>
            </a:r>
          </a:p>
          <a:p>
            <a:r>
              <a:rPr lang="en-US" altLang="zh-CN" dirty="0"/>
              <a:t>Bench mark</a:t>
            </a:r>
          </a:p>
          <a:p>
            <a:r>
              <a:rPr lang="en-US" altLang="zh-CN" dirty="0"/>
              <a:t>Applications</a:t>
            </a:r>
          </a:p>
        </p:txBody>
      </p:sp>
    </p:spTree>
    <p:extLst>
      <p:ext uri="{BB962C8B-B14F-4D97-AF65-F5344CB8AC3E}">
        <p14:creationId xmlns:p14="http://schemas.microsoft.com/office/powerpoint/2010/main" val="3748757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0D2C215-7FF7-3210-9383-68E165554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B9112FB-F55B-A1BC-1EAB-CDBE984F9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Amoeba formulation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7048D4E-A974-C670-F97A-B1319A3C5D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Part 02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88490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6|3|1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6|4.9"/>
</p:tagLst>
</file>

<file path=ppt/theme/theme1.xml><?xml version="1.0" encoding="utf-8"?>
<a:theme xmlns:a="http://schemas.openxmlformats.org/drawingml/2006/main" name="清华简约主题-扁平-16:9">
  <a:themeElements>
    <a:clrScheme name="清华配色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5B2F7C"/>
      </a:accent1>
      <a:accent2>
        <a:srgbClr val="5C2F7D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1662</TotalTime>
  <Words>590</Words>
  <Application>Microsoft Office PowerPoint</Application>
  <PresentationFormat>宽屏</PresentationFormat>
  <Paragraphs>80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等线</vt:lpstr>
      <vt:lpstr>Arial</vt:lpstr>
      <vt:lpstr>Cambria Math</vt:lpstr>
      <vt:lpstr>Wingdings</vt:lpstr>
      <vt:lpstr>Wingdings 2</vt:lpstr>
      <vt:lpstr>清华简约主题-扁平-16:9</vt:lpstr>
      <vt:lpstr>AxMath</vt:lpstr>
      <vt:lpstr>Numerical calculations of two-dimensional generalized Brillouin zone</vt:lpstr>
      <vt:lpstr>PowerPoint 演示文稿</vt:lpstr>
      <vt:lpstr>Non-Hermitian physics</vt:lpstr>
      <vt:lpstr>Non-Hermitian periodic lattices</vt:lpstr>
      <vt:lpstr>Non-Hermitian skin effect</vt:lpstr>
      <vt:lpstr>1D GBZ</vt:lpstr>
      <vt:lpstr>1D non-Bloch band theory</vt:lpstr>
      <vt:lpstr>Non-Bloch band theory for 2D lattices</vt:lpstr>
      <vt:lpstr>PowerPoint 演示文稿</vt:lpstr>
      <vt:lpstr>Amoeba formulation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 伟浩</dc:creator>
  <cp:lastModifiedBy>晨阳 王</cp:lastModifiedBy>
  <cp:revision>1340</cp:revision>
  <cp:lastPrinted>2020-04-04T02:50:00Z</cp:lastPrinted>
  <dcterms:created xsi:type="dcterms:W3CDTF">2020-01-04T07:43:00Z</dcterms:created>
  <dcterms:modified xsi:type="dcterms:W3CDTF">2026-09-06T09:57:22Z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90458E46C23E4612BCEBBB2ABF79E00F</vt:lpwstr>
  </property>
  <property fmtid="{D5CDD505-2E9C-101B-9397-08002B2CF9AE}" pid="3" name="KSOProductBuildVer">
    <vt:lpwstr>2052-11.1.0.11194</vt:lpwstr>
  </property>
</Properties>
</file>